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97D481-8DA1-4667-8D4C-E9F9156E3ED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51E714-60EF-449E-9180-CB8EF6ED3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727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（约 </a:t>
            </a:r>
            <a:r>
              <a:rPr lang="en-US" altLang="zh-CN"/>
              <a:t>20 </a:t>
            </a:r>
            <a:r>
              <a:rPr lang="zh-CN" altLang="en-US"/>
              <a:t>秒）</a:t>
            </a:r>
          </a:p>
          <a:p>
            <a:r>
              <a:rPr lang="zh-CN" altLang="en-US"/>
              <a:t>各位老师、同学，我汇报的是</a:t>
            </a:r>
            <a:r>
              <a:rPr lang="en-US" altLang="zh-CN"/>
              <a:t>《</a:t>
            </a:r>
            <a:r>
              <a:rPr lang="zh-CN" altLang="en-US"/>
              <a:t>志愿活动信息平台</a:t>
            </a:r>
            <a:r>
              <a:rPr lang="en-US" altLang="zh-CN"/>
              <a:t>》</a:t>
            </a:r>
            <a:r>
              <a:rPr lang="zh-CN" altLang="en-US"/>
              <a:t>。它由三部分组成：手机 </a:t>
            </a:r>
            <a:r>
              <a:rPr lang="en-US" altLang="zh-CN"/>
              <a:t>App </a:t>
            </a:r>
            <a:r>
              <a:rPr lang="zh-CN" altLang="en-US"/>
              <a:t>两端、一个网页、一台服务器。</a:t>
            </a:r>
          </a:p>
          <a:p>
            <a:r>
              <a:rPr lang="zh-CN" altLang="en-US"/>
              <a:t>今天想用几分钟说清楚六件事：为什么做、怎么设计、能做什么、哪里做得好、跑起来什么样、用在哪里。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51E714-60EF-449E-9180-CB8EF6ED31C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186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（约 </a:t>
            </a:r>
            <a:r>
              <a:rPr lang="en-US" altLang="zh-CN"/>
              <a:t>50 </a:t>
            </a:r>
            <a:r>
              <a:rPr lang="zh-CN" altLang="en-US"/>
              <a:t>秒）</a:t>
            </a:r>
          </a:p>
          <a:p>
            <a:r>
              <a:rPr lang="zh-CN" altLang="en-US"/>
              <a:t>先说为什么做。现在的志愿活动签到，基本靠喊名字、签字、群里发一句「我到了」。这带来三个问题。</a:t>
            </a:r>
          </a:p>
          <a:p>
            <a:r>
              <a:rPr lang="zh-CN" altLang="en-US"/>
              <a:t>第一，代签和漏签</a:t>
            </a:r>
            <a:r>
              <a:rPr lang="en-US" altLang="zh-CN"/>
              <a:t>——</a:t>
            </a:r>
            <a:r>
              <a:rPr lang="zh-CN" altLang="en-US"/>
              <a:t>事后没人说得清谁真的在场。</a:t>
            </a:r>
          </a:p>
          <a:p>
            <a:r>
              <a:rPr lang="zh-CN" altLang="en-US"/>
              <a:t>第二，组织者一个人干五份活：招人、发通知、点名、统计、交表，全靠 </a:t>
            </a:r>
            <a:r>
              <a:rPr lang="en-US" altLang="zh-CN"/>
              <a:t>Excel </a:t>
            </a:r>
            <a:r>
              <a:rPr lang="zh-CN" altLang="en-US"/>
              <a:t>和微信群手工拼。</a:t>
            </a:r>
          </a:p>
          <a:p>
            <a:r>
              <a:rPr lang="zh-CN" altLang="en-US"/>
              <a:t>第三，最要命的是时长认定没有证据</a:t>
            </a:r>
            <a:r>
              <a:rPr lang="en-US" altLang="zh-CN"/>
              <a:t>——</a:t>
            </a:r>
            <a:r>
              <a:rPr lang="zh-CN" altLang="en-US"/>
              <a:t>「他来了多久」只能凭印象，一到评奖评优就容易起争议。</a:t>
            </a:r>
          </a:p>
          <a:p>
            <a:r>
              <a:rPr lang="zh-CN" altLang="en-US"/>
              <a:t>所以我们要做的不是「又一个签到 </a:t>
            </a:r>
            <a:r>
              <a:rPr lang="en-US" altLang="zh-CN"/>
              <a:t>App</a:t>
            </a:r>
            <a:r>
              <a:rPr lang="zh-CN" altLang="en-US"/>
              <a:t>」，而是把现场的一次到场，变成一条可查的记录。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51E714-60EF-449E-9180-CB8EF6ED31C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597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（约 </a:t>
            </a:r>
            <a:r>
              <a:rPr lang="en-US" altLang="zh-CN"/>
              <a:t>50 </a:t>
            </a:r>
            <a:r>
              <a:rPr lang="zh-CN" altLang="en-US"/>
              <a:t>秒）</a:t>
            </a:r>
          </a:p>
          <a:p>
            <a:r>
              <a:rPr lang="zh-CN" altLang="en-US"/>
              <a:t>先定分工。手机 </a:t>
            </a:r>
            <a:r>
              <a:rPr lang="en-US" altLang="zh-CN"/>
              <a:t>App </a:t>
            </a:r>
            <a:r>
              <a:rPr lang="zh-CN" altLang="en-US"/>
              <a:t>只做一件事：采集</a:t>
            </a:r>
            <a:r>
              <a:rPr lang="en-US" altLang="zh-CN"/>
              <a:t>——</a:t>
            </a:r>
            <a:r>
              <a:rPr lang="zh-CN" altLang="en-US"/>
              <a:t>定位、网络、时间，都是现场证据。服务器做两件事：判定、留痕。网页做两件事：给人看、给人导。</a:t>
            </a:r>
          </a:p>
          <a:p>
            <a:r>
              <a:rPr lang="zh-CN" altLang="en-US"/>
              <a:t>有一条不能动的原则：判定权只放在服务器。</a:t>
            </a:r>
            <a:r>
              <a:rPr lang="en-US" altLang="zh-CN"/>
              <a:t>App </a:t>
            </a:r>
            <a:r>
              <a:rPr lang="zh-CN" altLang="en-US"/>
              <a:t>只上报，不下结论，所以改客户端也改不了结果。</a:t>
            </a:r>
          </a:p>
          <a:p>
            <a:r>
              <a:rPr lang="zh-CN" altLang="en-US"/>
              <a:t>另外两条：先把最坏情况想清楚（断网、代签、假定位各有对策）；没有服务器也能跑（本机演示模式，零配置验收）。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51E714-60EF-449E-9180-CB8EF6ED31C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424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（约 </a:t>
            </a:r>
            <a:r>
              <a:rPr lang="en-US" altLang="zh-CN"/>
              <a:t>50 </a:t>
            </a:r>
            <a:r>
              <a:rPr lang="zh-CN" altLang="en-US"/>
              <a:t>秒）</a:t>
            </a:r>
          </a:p>
          <a:p>
            <a:r>
              <a:rPr lang="zh-CN" altLang="en-US"/>
              <a:t>用户端只有四步：绑定活动、定位签到、在岗确认、看自己的记录。</a:t>
            </a:r>
          </a:p>
          <a:p>
            <a:r>
              <a:rPr lang="zh-CN" altLang="en-US"/>
              <a:t>管理端是一条流水线：发布活动、拉名单、发邀请码、看现场看板、复核有疑问的签到；名单可以直接从 </a:t>
            </a:r>
            <a:r>
              <a:rPr lang="en-US" altLang="zh-CN"/>
              <a:t>Excel </a:t>
            </a:r>
            <a:r>
              <a:rPr lang="zh-CN" altLang="en-US"/>
              <a:t>导入。</a:t>
            </a:r>
          </a:p>
          <a:p>
            <a:r>
              <a:rPr lang="zh-CN" altLang="en-US"/>
              <a:t>网页端只读：浏览、筛选、导出，不能在网页上签到</a:t>
            </a:r>
            <a:r>
              <a:rPr lang="en-US" altLang="zh-CN"/>
              <a:t>——</a:t>
            </a:r>
            <a:r>
              <a:rPr lang="zh-CN" altLang="en-US"/>
              <a:t>因为签到需要现场证据。</a:t>
            </a:r>
          </a:p>
          <a:p>
            <a:r>
              <a:rPr lang="zh-CN" altLang="en-US"/>
              <a:t>一句话：现场用 </a:t>
            </a:r>
            <a:r>
              <a:rPr lang="en-US" altLang="zh-CN"/>
              <a:t>App</a:t>
            </a:r>
            <a:r>
              <a:rPr lang="zh-CN" altLang="en-US"/>
              <a:t>，事后用网页，两边是同一份数据。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51E714-60EF-449E-9180-CB8EF6ED31C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029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（约 </a:t>
            </a:r>
            <a:r>
              <a:rPr lang="en-US" altLang="zh-CN"/>
              <a:t>60 </a:t>
            </a:r>
            <a:r>
              <a:rPr lang="zh-CN" altLang="en-US"/>
              <a:t>秒）</a:t>
            </a:r>
          </a:p>
          <a:p>
            <a:r>
              <a:rPr lang="zh-CN" altLang="en-US"/>
              <a:t>四个值得说的决定。</a:t>
            </a:r>
          </a:p>
          <a:p>
            <a:r>
              <a:rPr lang="zh-CN" altLang="en-US"/>
              <a:t>第一，判定在服务端</a:t>
            </a:r>
            <a:r>
              <a:rPr lang="en-US" altLang="zh-CN"/>
              <a:t>——</a:t>
            </a:r>
            <a:r>
              <a:rPr lang="zh-CN" altLang="en-US"/>
              <a:t>评分规则只定义一次，</a:t>
            </a:r>
            <a:r>
              <a:rPr lang="en-US" altLang="zh-CN"/>
              <a:t>App </a:t>
            </a:r>
            <a:r>
              <a:rPr lang="zh-CN" altLang="en-US"/>
              <a:t>改不了结论。</a:t>
            </a:r>
          </a:p>
          <a:p>
            <a:r>
              <a:rPr lang="zh-CN" altLang="en-US"/>
              <a:t>第二，一次粘贴完成绑定</a:t>
            </a:r>
            <a:r>
              <a:rPr lang="en-US" altLang="zh-CN"/>
              <a:t>——</a:t>
            </a:r>
            <a:r>
              <a:rPr lang="zh-CN" altLang="en-US"/>
              <a:t>发布者复制一整段（活动编号、学号、邀请码），志愿者粘贴一下三个框自动填好。这是实测最容易卡住的一步，我们把它抹平了。</a:t>
            </a:r>
          </a:p>
          <a:p>
            <a:r>
              <a:rPr lang="zh-CN" altLang="en-US"/>
              <a:t>第三，名单直接从 </a:t>
            </a:r>
            <a:r>
              <a:rPr lang="en-US" altLang="zh-CN"/>
              <a:t>Excel </a:t>
            </a:r>
            <a:r>
              <a:rPr lang="zh-CN" altLang="en-US"/>
              <a:t>导入</a:t>
            </a:r>
            <a:r>
              <a:rPr lang="en-US" altLang="zh-CN"/>
              <a:t>——</a:t>
            </a:r>
            <a:r>
              <a:rPr lang="zh-CN" altLang="en-US"/>
              <a:t>选文件就能读，表头自动跳过，中间有空单元格也不会错位。</a:t>
            </a:r>
          </a:p>
          <a:p>
            <a:r>
              <a:rPr lang="zh-CN" altLang="en-US"/>
              <a:t>第四，驳回必须写原因</a:t>
            </a:r>
            <a:r>
              <a:rPr lang="en-US" altLang="zh-CN"/>
              <a:t>——</a:t>
            </a:r>
            <a:r>
              <a:rPr lang="zh-CN" altLang="en-US"/>
              <a:t>志愿者看得见解释，不会「被驳回却不知道为什么」。</a:t>
            </a:r>
          </a:p>
          <a:p>
            <a:r>
              <a:rPr lang="zh-CN" altLang="en-US"/>
              <a:t>这四条都不是「多加一个功能」，而是把最容易出问题的地方提前想到。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51E714-60EF-449E-9180-CB8EF6ED31C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288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（约 </a:t>
            </a:r>
            <a:r>
              <a:rPr lang="en-US" altLang="zh-CN"/>
              <a:t>50 </a:t>
            </a:r>
            <a:r>
              <a:rPr lang="zh-CN" altLang="en-US"/>
              <a:t>秒）</a:t>
            </a:r>
          </a:p>
          <a:p>
            <a:r>
              <a:rPr lang="zh-CN" altLang="en-US"/>
              <a:t>指左边：志愿者签到后服务端给了 </a:t>
            </a:r>
            <a:r>
              <a:rPr lang="en-US" altLang="zh-CN"/>
              <a:t>60 </a:t>
            </a:r>
            <a:r>
              <a:rPr lang="zh-CN" altLang="en-US"/>
              <a:t>分，自动通过；分数是服务端算的，</a:t>
            </a:r>
            <a:r>
              <a:rPr lang="en-US" altLang="zh-CN"/>
              <a:t>App </a:t>
            </a:r>
            <a:r>
              <a:rPr lang="zh-CN" altLang="en-US"/>
              <a:t>只显示。</a:t>
            </a:r>
          </a:p>
          <a:p>
            <a:r>
              <a:rPr lang="zh-CN" altLang="en-US"/>
              <a:t>指中间：管理端看板已签到 </a:t>
            </a:r>
            <a:r>
              <a:rPr lang="en-US" altLang="zh-CN"/>
              <a:t>2 </a:t>
            </a:r>
            <a:r>
              <a:rPr lang="zh-CN" altLang="en-US"/>
              <a:t>人、待确认 </a:t>
            </a:r>
            <a:r>
              <a:rPr lang="en-US" altLang="zh-CN"/>
              <a:t>0 </a:t>
            </a:r>
            <a:r>
              <a:rPr lang="zh-CN" altLang="en-US"/>
              <a:t>人，谁到了谁没到一眼看到。</a:t>
            </a:r>
          </a:p>
          <a:p>
            <a:r>
              <a:rPr lang="zh-CN" altLang="en-US"/>
              <a:t>指右边：电脑网页上是同一个活动、同一个报名人数。</a:t>
            </a:r>
          </a:p>
          <a:p>
            <a:r>
              <a:rPr lang="zh-CN" altLang="en-US"/>
              <a:t>三端连的是同一台服务器，所以数据一致。（截图待补）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51E714-60EF-449E-9180-CB8EF6ED31C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014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（约 </a:t>
            </a:r>
            <a:r>
              <a:rPr lang="en-US" altLang="zh-CN"/>
              <a:t>40 </a:t>
            </a:r>
            <a:r>
              <a:rPr lang="zh-CN" altLang="en-US"/>
              <a:t>秒）</a:t>
            </a:r>
          </a:p>
          <a:p>
            <a:r>
              <a:rPr lang="zh-CN" altLang="en-US"/>
              <a:t>用在哪里？判断标准只有一条：人要到场，场地相对固定。</a:t>
            </a:r>
          </a:p>
          <a:p>
            <a:r>
              <a:rPr lang="zh-CN" altLang="en-US"/>
              <a:t>校内的图书馆整理、校园劝导、赛事服务；迎新和考场引导；社区与敬老服务；还有值班类的实习打卡。</a:t>
            </a:r>
          </a:p>
          <a:p>
            <a:r>
              <a:rPr lang="zh-CN" altLang="en-US"/>
              <a:t>说到底是一次替换：把「来了没有」，换成「有据可查」。组织的人省事，参加的人也不担心时长说不清。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51E714-60EF-449E-9180-CB8EF6ED31C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952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（约 </a:t>
            </a:r>
            <a:r>
              <a:rPr lang="en-US" altLang="zh-CN"/>
              <a:t>15 </a:t>
            </a:r>
            <a:r>
              <a:rPr lang="zh-CN" altLang="en-US"/>
              <a:t>秒）</a:t>
            </a:r>
          </a:p>
          <a:p>
            <a:r>
              <a:rPr lang="zh-CN" altLang="en-US"/>
              <a:t>我的汇报到这里。欢迎试用，也欢迎直接指出问题。谢谢。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51E714-60EF-449E-9180-CB8EF6ED31C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413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8F60CC-E513-FD9C-DA60-CDF2B4002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E011F7D-34B2-E365-4151-80656E85E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B66DEF-255A-113F-60C7-61DB90EE6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72CCF-1A56-4AB0-B393-C15EC12D60B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E5DB2E-7C3D-6DF8-A551-772888E75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5149ED-3E96-8CD1-B832-60217F49E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1E17-A005-4FA0-ADE4-7BD193515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523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845C8C-1A1D-1883-0C6F-9118B665E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EE380D-88A8-E8E3-5EBE-217DB599F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7CCF2-CB7D-840E-BBA0-36B4D1531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72CCF-1A56-4AB0-B393-C15EC12D60B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5869A7-525A-B518-1C52-22E95816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516746-4CBA-5C1E-735D-C20743AE1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1E17-A005-4FA0-ADE4-7BD193515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500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C7210-8C60-37EA-95FF-95FEF991B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27D15E-E336-D023-F198-B3EE4F34D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FEA2B0-D31E-651D-D9AF-ADB03AAD5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72CCF-1A56-4AB0-B393-C15EC12D60B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224B5E-8810-A395-7C2F-2F55FF424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0DBC21-FDFB-CD0E-42DE-D3DCAA77D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1E17-A005-4FA0-ADE4-7BD193515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199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8AE74-D446-6837-4BE0-EC504C87A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AEAA5-B7A0-EE1B-BDC1-BCB1562DEE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FE2DC3-161F-F2C3-69A6-D2BDEE2EA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963C0E-BEB5-EBC2-62C6-17300C4B0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72CCF-1A56-4AB0-B393-C15EC12D60B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01CDFE-55EA-A775-7117-669283AAC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9A7435-9CB6-1B0B-1DFD-686183B76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1E17-A005-4FA0-ADE4-7BD193515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921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17DEB5-6BF0-8236-587A-081E5E0DE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B5D27E-BC55-E864-4F9D-544B79F50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DB1C9A-96FE-3182-FA59-4DA71BD3E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27EB412-1A48-BCBA-7F39-410E13D1BC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76D1AD-1D96-E046-33F2-9699819831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3FED527-691B-4382-FE6C-CD149E74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72CCF-1A56-4AB0-B393-C15EC12D60B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7FA1A1-20D2-DCF2-A1B8-043C8D2AB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DEB9AA5-2A89-9264-6250-4193E938A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1E17-A005-4FA0-ADE4-7BD193515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394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6CCE57-D681-C28E-344B-996A8EF95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CC13AEC-440C-8BF5-5AC4-21E04B1DF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72CCF-1A56-4AB0-B393-C15EC12D60B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B422503-02C5-EBB3-46E8-6DDEF5A70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B05C60-24CB-205A-0548-F46CDAD6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1E17-A005-4FA0-ADE4-7BD193515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002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9CF9CA-BD0D-0743-5FFA-447214D4C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72CCF-1A56-4AB0-B393-C15EC12D60B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446CDE6-2901-21EF-BEC2-09EA604E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67F9B3-86AA-2243-C0DE-10B7661B0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1E17-A005-4FA0-ADE4-7BD193515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00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803A99-F7DB-C075-26DF-7FDA3C6B3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08641A-F296-54BB-0361-C19D5199C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A41A18-7D34-82CC-84B4-7A918507F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1FBBE3-1FE5-FA74-B3C2-5040082B2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72CCF-1A56-4AB0-B393-C15EC12D60B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26F561-3631-72D5-A501-85C119DAF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2599E2-29FE-A90A-6FBC-043825A6A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1E17-A005-4FA0-ADE4-7BD193515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03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F1EDDE-C706-46B9-C621-D8C235734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4C03EFA-CF24-6581-6C37-E496BB47FA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D6112A-7966-CF59-ECCC-2E07038F0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5404F4-5D1F-E59A-0576-E7906B7E7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72CCF-1A56-4AB0-B393-C15EC12D60B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55E3F2-9D96-3D8E-DAF7-0F6949DB0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F39F8C-4A9C-7D77-87E2-C4E61CB58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1E17-A005-4FA0-ADE4-7BD193515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102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A12FF-2331-A937-7FB7-B33BB0122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443DC9-EC8F-73C4-BFAA-67C1AD3FD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FFF19C-DADC-0B54-9BC0-87E9977F4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72CCF-1A56-4AB0-B393-C15EC12D60B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DFCB95-BB8C-76AD-3837-7BB76C09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3EE7A1-9569-42EE-05B4-9ED5FF09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1E17-A005-4FA0-ADE4-7BD193515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141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078FE5-76EC-DE1B-AB26-C0FBC4E780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B1EB05-5871-FCAE-76E6-39622BF38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860A04-E2EC-50B7-9A5A-CD6522BA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72CCF-1A56-4AB0-B393-C15EC12D60B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07BDC2-D8E9-ACD2-9B61-04DE1FD20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02BC74-62BB-DCC9-5548-2CD1300A9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1E17-A005-4FA0-ADE4-7BD193515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537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7D48CC9-7549-12EF-5B53-3FA567A47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B297D3-A27F-A28A-D530-5832785E7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5F21E5-3D13-2E46-BDD8-4BF0FFC6E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F72CCF-1A56-4AB0-B393-C15EC12D60B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505345-6522-D79C-7994-9FFB635E4A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FE0740-E81D-30B2-DE33-2C1510BE87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231E17-A005-4FA0-ADE4-7BD193515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623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5D13ABC2-B301-222D-3350-3458B95520B6}"/>
              </a:ext>
            </a:extLst>
          </p:cNvPr>
          <p:cNvSpPr/>
          <p:nvPr/>
        </p:nvSpPr>
        <p:spPr>
          <a:xfrm>
            <a:off x="6985000" y="-1524000"/>
            <a:ext cx="6350000" cy="6350000"/>
          </a:xfrm>
          <a:prstGeom prst="ellipse">
            <a:avLst/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CA06E92-DC45-1FF5-4872-7320A5C5947E}"/>
              </a:ext>
            </a:extLst>
          </p:cNvPr>
          <p:cNvSpPr/>
          <p:nvPr/>
        </p:nvSpPr>
        <p:spPr>
          <a:xfrm>
            <a:off x="9969500" y="3937000"/>
            <a:ext cx="3048000" cy="3048000"/>
          </a:xfrm>
          <a:prstGeom prst="ellipse">
            <a:avLst/>
          </a:prstGeom>
          <a:solidFill>
            <a:srgbClr val="2F6B3A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51EF5F3-FC96-F556-644A-24FD4CC0F933}"/>
              </a:ext>
            </a:extLst>
          </p:cNvPr>
          <p:cNvSpPr/>
          <p:nvPr/>
        </p:nvSpPr>
        <p:spPr>
          <a:xfrm>
            <a:off x="7747000" y="3810000"/>
            <a:ext cx="1905000" cy="1905000"/>
          </a:xfrm>
          <a:prstGeom prst="ellipse">
            <a:avLst/>
          </a:prstGeom>
          <a:noFill/>
          <a:ln w="19050" cap="flat" cmpd="sng" algn="ctr">
            <a:solidFill>
              <a:srgbClr val="B779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1E324C-DF91-060E-8EDF-3A63F3796AFD}"/>
              </a:ext>
            </a:extLst>
          </p:cNvPr>
          <p:cNvSpPr/>
          <p:nvPr/>
        </p:nvSpPr>
        <p:spPr>
          <a:xfrm>
            <a:off x="711200" y="1676400"/>
            <a:ext cx="812800" cy="50800"/>
          </a:xfrm>
          <a:prstGeom prst="rect">
            <a:avLst/>
          </a:prstGeom>
          <a:solidFill>
            <a:srgbClr val="B7791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Kicker">
            <a:extLst>
              <a:ext uri="{FF2B5EF4-FFF2-40B4-BE49-F238E27FC236}">
                <a16:creationId xmlns:a16="http://schemas.microsoft.com/office/drawing/2014/main" id="{457A0695-7AB6-6436-9496-95C8892FEE30}"/>
              </a:ext>
            </a:extLst>
          </p:cNvPr>
          <p:cNvSpPr txBox="1"/>
          <p:nvPr/>
        </p:nvSpPr>
        <p:spPr>
          <a:xfrm>
            <a:off x="711200" y="1320800"/>
            <a:ext cx="5334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44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校园志愿活动信息化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2F90E7DD-1D70-9942-5157-D05D038EBB51}"/>
              </a:ext>
            </a:extLst>
          </p:cNvPr>
          <p:cNvSpPr txBox="1"/>
          <p:nvPr/>
        </p:nvSpPr>
        <p:spPr>
          <a:xfrm>
            <a:off x="711200" y="1930400"/>
            <a:ext cx="7112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4400" b="1">
                <a:solidFill>
                  <a:srgbClr val="2F6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志愿活动信息平台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AA6814E8-AB33-4EC3-FD5E-E17E0DBA4A7D}"/>
              </a:ext>
            </a:extLst>
          </p:cNvPr>
          <p:cNvSpPr txBox="1"/>
          <p:nvPr/>
        </p:nvSpPr>
        <p:spPr>
          <a:xfrm>
            <a:off x="711200" y="3683000"/>
            <a:ext cx="711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 </a:t>
            </a:r>
            <a:r>
              <a:rPr lang="en-US" altLang="zh-CN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（两端）＋ 网页 ＋ 服务器</a:t>
            </a:r>
          </a:p>
          <a:p>
            <a:pPr>
              <a:lnSpc>
                <a:spcPct val="108000"/>
              </a:lnSpc>
            </a:pPr>
            <a:r>
              <a:rPr lang="zh-CN" altLang="en-US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让签到这件事，既方便又靠得住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F653CF1-34E4-0841-3581-36062635AC18}"/>
              </a:ext>
            </a:extLst>
          </p:cNvPr>
          <p:cNvCxnSpPr/>
          <p:nvPr/>
        </p:nvCxnSpPr>
        <p:spPr>
          <a:xfrm>
            <a:off x="711200" y="5664200"/>
            <a:ext cx="3098800" cy="0"/>
          </a:xfrm>
          <a:prstGeom prst="line">
            <a:avLst/>
          </a:prstGeom>
          <a:ln w="9525">
            <a:solidFill>
              <a:srgbClr val="D5D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Meta">
            <a:extLst>
              <a:ext uri="{FF2B5EF4-FFF2-40B4-BE49-F238E27FC236}">
                <a16:creationId xmlns:a16="http://schemas.microsoft.com/office/drawing/2014/main" id="{A30E32AB-1276-2252-7972-0286EFFE709C}"/>
              </a:ext>
            </a:extLst>
          </p:cNvPr>
          <p:cNvSpPr txBox="1"/>
          <p:nvPr/>
        </p:nvSpPr>
        <p:spPr>
          <a:xfrm>
            <a:off x="711200" y="5791200"/>
            <a:ext cx="5334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38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</a:t>
            </a:r>
            <a:r>
              <a:rPr lang="en-US" altLang="zh-CN" sz="138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____________</a:t>
            </a:r>
            <a:r>
              <a:rPr lang="zh-CN" altLang="en-US" sz="138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en-US" altLang="zh-CN" sz="138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 </a:t>
            </a:r>
            <a:r>
              <a:rPr lang="zh-CN" altLang="en-US" sz="138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138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138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6369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82DE434-7BED-2C02-FF65-9DF7D466B392}"/>
              </a:ext>
            </a:extLst>
          </p:cNvPr>
          <p:cNvSpPr/>
          <p:nvPr/>
        </p:nvSpPr>
        <p:spPr>
          <a:xfrm>
            <a:off x="609600" y="508000"/>
            <a:ext cx="330200" cy="38100"/>
          </a:xfrm>
          <a:prstGeom prst="rect">
            <a:avLst/>
          </a:prstGeom>
          <a:solidFill>
            <a:srgbClr val="B7791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3E48D3D9-F21C-3655-3621-33B569CA6A0B}"/>
              </a:ext>
            </a:extLst>
          </p:cNvPr>
          <p:cNvSpPr txBox="1"/>
          <p:nvPr/>
        </p:nvSpPr>
        <p:spPr>
          <a:xfrm>
            <a:off x="609600" y="635000"/>
            <a:ext cx="812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26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一、选题理由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D23D1947-21CB-DE2E-5630-947EB7356FFE}"/>
              </a:ext>
            </a:extLst>
          </p:cNvPr>
          <p:cNvSpPr txBox="1"/>
          <p:nvPr/>
        </p:nvSpPr>
        <p:spPr>
          <a:xfrm>
            <a:off x="10058400" y="6350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altLang="zh-CN" sz="120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/ 08</a:t>
            </a:r>
            <a:endParaRPr lang="zh-CN" altLang="en-US" sz="1200">
              <a:solidFill>
                <a:srgbClr val="6B7A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8F2A3C5-D0B1-9BC7-B7B9-53FE187F67E3}"/>
              </a:ext>
            </a:extLst>
          </p:cNvPr>
          <p:cNvSpPr txBox="1"/>
          <p:nvPr/>
        </p:nvSpPr>
        <p:spPr>
          <a:xfrm>
            <a:off x="609600" y="8890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2700" b="1">
                <a:solidFill>
                  <a:srgbClr val="2F6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签到靠喊名字、时长靠回忆</a:t>
            </a:r>
            <a:r>
              <a:rPr lang="en-US" altLang="zh-CN" sz="2700" b="1">
                <a:solidFill>
                  <a:srgbClr val="2F6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700" b="1">
                <a:solidFill>
                  <a:srgbClr val="2F6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这件事该有据可查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3C4E288-1C4C-EECC-362D-2D8005520B49}"/>
              </a:ext>
            </a:extLst>
          </p:cNvPr>
          <p:cNvCxnSpPr/>
          <p:nvPr/>
        </p:nvCxnSpPr>
        <p:spPr>
          <a:xfrm>
            <a:off x="609600" y="1498600"/>
            <a:ext cx="10972800" cy="0"/>
          </a:xfrm>
          <a:prstGeom prst="line">
            <a:avLst/>
          </a:prstGeom>
          <a:ln w="9525">
            <a:solidFill>
              <a:srgbClr val="D5D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A7D79AAC-58FB-2D30-18F7-40DB24E27135}"/>
              </a:ext>
            </a:extLst>
          </p:cNvPr>
          <p:cNvSpPr/>
          <p:nvPr/>
        </p:nvSpPr>
        <p:spPr>
          <a:xfrm>
            <a:off x="609600" y="1803400"/>
            <a:ext cx="101600" cy="101600"/>
          </a:xfrm>
          <a:prstGeom prst="ellipse">
            <a:avLst/>
          </a:prstGeom>
          <a:solidFill>
            <a:srgbClr val="2F6B3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6979666-1CA7-2B15-DA5D-3A56E12C1B81}"/>
              </a:ext>
            </a:extLst>
          </p:cNvPr>
          <p:cNvSpPr txBox="1"/>
          <p:nvPr/>
        </p:nvSpPr>
        <p:spPr>
          <a:xfrm>
            <a:off x="889000" y="1676400"/>
            <a:ext cx="10693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980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代签与漏签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33ACD2-AD91-2FD4-9948-A5F8A15B9E29}"/>
              </a:ext>
            </a:extLst>
          </p:cNvPr>
          <p:cNvSpPr txBox="1"/>
          <p:nvPr/>
        </p:nvSpPr>
        <p:spPr>
          <a:xfrm>
            <a:off x="889000" y="2082800"/>
            <a:ext cx="10693400" cy="8212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62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纸质签到、群里一句「我到了」，事后没人说得清谁真在场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F57846C-7F20-CB3E-4100-22A5878820DB}"/>
              </a:ext>
            </a:extLst>
          </p:cNvPr>
          <p:cNvCxnSpPr/>
          <p:nvPr/>
        </p:nvCxnSpPr>
        <p:spPr>
          <a:xfrm>
            <a:off x="889000" y="2904067"/>
            <a:ext cx="10693400" cy="0"/>
          </a:xfrm>
          <a:prstGeom prst="line">
            <a:avLst/>
          </a:prstGeom>
          <a:ln w="6350">
            <a:solidFill>
              <a:srgbClr val="D5D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A277EFB4-D571-C1D9-6F30-3D3237B22178}"/>
              </a:ext>
            </a:extLst>
          </p:cNvPr>
          <p:cNvSpPr/>
          <p:nvPr/>
        </p:nvSpPr>
        <p:spPr>
          <a:xfrm>
            <a:off x="609600" y="3107267"/>
            <a:ext cx="101600" cy="101600"/>
          </a:xfrm>
          <a:prstGeom prst="ellipse">
            <a:avLst/>
          </a:prstGeom>
          <a:solidFill>
            <a:srgbClr val="B7791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888C261-8159-D89D-09BB-BC513BC886F7}"/>
              </a:ext>
            </a:extLst>
          </p:cNvPr>
          <p:cNvSpPr txBox="1"/>
          <p:nvPr/>
        </p:nvSpPr>
        <p:spPr>
          <a:xfrm>
            <a:off x="889000" y="2980267"/>
            <a:ext cx="10693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980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组织者一身兼数职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43E32A5-2C47-A2CB-5D22-3439334AAF03}"/>
              </a:ext>
            </a:extLst>
          </p:cNvPr>
          <p:cNvSpPr txBox="1"/>
          <p:nvPr/>
        </p:nvSpPr>
        <p:spPr>
          <a:xfrm>
            <a:off x="889000" y="3386667"/>
            <a:ext cx="10693400" cy="8212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62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招人、发通知、点名、统计、交表，全靠 </a:t>
            </a:r>
            <a:r>
              <a:rPr lang="en-US" altLang="zh-CN" sz="162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 </a:t>
            </a:r>
            <a:r>
              <a:rPr lang="zh-CN" altLang="en-US" sz="162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和微信手工拼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48AFAFA-5C1B-9C68-C6E2-801D887E66AA}"/>
              </a:ext>
            </a:extLst>
          </p:cNvPr>
          <p:cNvCxnSpPr/>
          <p:nvPr/>
        </p:nvCxnSpPr>
        <p:spPr>
          <a:xfrm>
            <a:off x="889000" y="4207933"/>
            <a:ext cx="10693400" cy="0"/>
          </a:xfrm>
          <a:prstGeom prst="line">
            <a:avLst/>
          </a:prstGeom>
          <a:ln w="6350">
            <a:solidFill>
              <a:srgbClr val="D5D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8DE081EE-533C-A3A1-2424-247BAC77A15C}"/>
              </a:ext>
            </a:extLst>
          </p:cNvPr>
          <p:cNvSpPr/>
          <p:nvPr/>
        </p:nvSpPr>
        <p:spPr>
          <a:xfrm>
            <a:off x="609600" y="4411133"/>
            <a:ext cx="101600" cy="101600"/>
          </a:xfrm>
          <a:prstGeom prst="ellipse">
            <a:avLst/>
          </a:prstGeom>
          <a:solidFill>
            <a:srgbClr val="2F6B3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28EF8EE-E2E7-F09E-901B-DB1F653FACC6}"/>
              </a:ext>
            </a:extLst>
          </p:cNvPr>
          <p:cNvSpPr txBox="1"/>
          <p:nvPr/>
        </p:nvSpPr>
        <p:spPr>
          <a:xfrm>
            <a:off x="889000" y="4284133"/>
            <a:ext cx="10693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980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时长认定没有证据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301926D-6CB1-7166-3BEE-8DBC0419CF6A}"/>
              </a:ext>
            </a:extLst>
          </p:cNvPr>
          <p:cNvSpPr txBox="1"/>
          <p:nvPr/>
        </p:nvSpPr>
        <p:spPr>
          <a:xfrm>
            <a:off x="889000" y="4690533"/>
            <a:ext cx="10693400" cy="8212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62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「他来了多久」只能凭印象，评奖评优时容易起争议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32A228E-5E5C-A1D7-9A66-468EA1E659C8}"/>
              </a:ext>
            </a:extLst>
          </p:cNvPr>
          <p:cNvSpPr/>
          <p:nvPr/>
        </p:nvSpPr>
        <p:spPr>
          <a:xfrm>
            <a:off x="609600" y="5689600"/>
            <a:ext cx="10972800" cy="508000"/>
          </a:xfrm>
          <a:prstGeom prst="rect">
            <a:avLst/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5DDBE33-9B55-0F1B-E2A3-01D5E070900F}"/>
              </a:ext>
            </a:extLst>
          </p:cNvPr>
          <p:cNvSpPr/>
          <p:nvPr/>
        </p:nvSpPr>
        <p:spPr>
          <a:xfrm>
            <a:off x="609600" y="5689600"/>
            <a:ext cx="50800" cy="508000"/>
          </a:xfrm>
          <a:prstGeom prst="rect">
            <a:avLst/>
          </a:prstGeom>
          <a:solidFill>
            <a:srgbClr val="B7791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Callout">
            <a:extLst>
              <a:ext uri="{FF2B5EF4-FFF2-40B4-BE49-F238E27FC236}">
                <a16:creationId xmlns:a16="http://schemas.microsoft.com/office/drawing/2014/main" id="{945C67FC-2453-A367-4B12-3E3C11757F6E}"/>
              </a:ext>
            </a:extLst>
          </p:cNvPr>
          <p:cNvSpPr txBox="1"/>
          <p:nvPr/>
        </p:nvSpPr>
        <p:spPr>
          <a:xfrm>
            <a:off x="838200" y="5689600"/>
            <a:ext cx="10591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620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我们要做的不是「又一个签到 </a:t>
            </a:r>
            <a:r>
              <a:rPr lang="en-US" altLang="zh-CN" sz="1620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620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」，而是把现场行为变成可信记录。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1367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1" grpId="0" animBg="1"/>
      <p:bldP spid="12" grpId="0"/>
      <p:bldP spid="13" grpId="0"/>
      <p:bldP spid="15" grpId="0" animBg="1"/>
      <p:bldP spid="16" grpId="0"/>
      <p:bldP spid="17" grpId="0"/>
      <p:bldP spid="18" grpId="0" animBg="1"/>
      <p:bldP spid="19" grpId="0" animBg="1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42DD7CB-655E-7B90-7425-01C455A37130}"/>
              </a:ext>
            </a:extLst>
          </p:cNvPr>
          <p:cNvSpPr/>
          <p:nvPr/>
        </p:nvSpPr>
        <p:spPr>
          <a:xfrm>
            <a:off x="609600" y="508000"/>
            <a:ext cx="330200" cy="38100"/>
          </a:xfrm>
          <a:prstGeom prst="rect">
            <a:avLst/>
          </a:prstGeom>
          <a:solidFill>
            <a:srgbClr val="B7791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812CA67E-AF2B-3915-B421-6FDBB8B1BFC0}"/>
              </a:ext>
            </a:extLst>
          </p:cNvPr>
          <p:cNvSpPr txBox="1"/>
          <p:nvPr/>
        </p:nvSpPr>
        <p:spPr>
          <a:xfrm>
            <a:off x="609600" y="635000"/>
            <a:ext cx="812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26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二、设计思路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6F98DE88-878F-22DF-41AE-EA425D5AB4D5}"/>
              </a:ext>
            </a:extLst>
          </p:cNvPr>
          <p:cNvSpPr txBox="1"/>
          <p:nvPr/>
        </p:nvSpPr>
        <p:spPr>
          <a:xfrm>
            <a:off x="10058400" y="6350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altLang="zh-CN" sz="120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/ 08</a:t>
            </a:r>
            <a:endParaRPr lang="zh-CN" altLang="en-US" sz="1200">
              <a:solidFill>
                <a:srgbClr val="6B7A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1D711209-6009-B2C1-9B35-900230AED27E}"/>
              </a:ext>
            </a:extLst>
          </p:cNvPr>
          <p:cNvSpPr txBox="1"/>
          <p:nvPr/>
        </p:nvSpPr>
        <p:spPr>
          <a:xfrm>
            <a:off x="609600" y="8890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US" altLang="zh-CN" sz="2300" b="1">
                <a:solidFill>
                  <a:srgbClr val="2F6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 </a:t>
            </a:r>
            <a:r>
              <a:rPr lang="zh-CN" altLang="en-US" sz="2300" b="1">
                <a:solidFill>
                  <a:srgbClr val="2F6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采集、服务器判定、网页查看</a:t>
            </a:r>
            <a:r>
              <a:rPr lang="en-US" altLang="zh-CN" sz="2300" b="1">
                <a:solidFill>
                  <a:srgbClr val="2F6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300" b="1">
                <a:solidFill>
                  <a:srgbClr val="2F6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各做各的，数据一处汇合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64AD361-DCE9-2794-7F44-97D6A4E2C0BA}"/>
              </a:ext>
            </a:extLst>
          </p:cNvPr>
          <p:cNvCxnSpPr/>
          <p:nvPr/>
        </p:nvCxnSpPr>
        <p:spPr>
          <a:xfrm>
            <a:off x="609600" y="1498600"/>
            <a:ext cx="10972800" cy="0"/>
          </a:xfrm>
          <a:prstGeom prst="line">
            <a:avLst/>
          </a:prstGeom>
          <a:ln w="9525">
            <a:solidFill>
              <a:srgbClr val="D5D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BA2BF1F-E02C-7B3E-4169-547522486CE8}"/>
              </a:ext>
            </a:extLst>
          </p:cNvPr>
          <p:cNvSpPr/>
          <p:nvPr/>
        </p:nvSpPr>
        <p:spPr>
          <a:xfrm>
            <a:off x="762000" y="2032000"/>
            <a:ext cx="2540000" cy="1066800"/>
          </a:xfrm>
          <a:prstGeom prst="roundRect">
            <a:avLst>
              <a:gd name="adj" fmla="val 9524"/>
            </a:avLst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932948-330F-4986-6EC5-4384FDDE4747}"/>
              </a:ext>
            </a:extLst>
          </p:cNvPr>
          <p:cNvSpPr txBox="1"/>
          <p:nvPr/>
        </p:nvSpPr>
        <p:spPr>
          <a:xfrm>
            <a:off x="863600" y="2032000"/>
            <a:ext cx="23368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 </a:t>
            </a:r>
            <a:r>
              <a:rPr lang="en-US" altLang="zh-CN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</a:p>
          <a:p>
            <a:pPr algn="ctr">
              <a:lnSpc>
                <a:spcPct val="108000"/>
              </a:lnSpc>
            </a:pPr>
            <a:r>
              <a:rPr lang="zh-CN" altLang="en-US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采集证据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915F265-584A-48AE-E39E-415B0F5CC151}"/>
              </a:ext>
            </a:extLst>
          </p:cNvPr>
          <p:cNvSpPr/>
          <p:nvPr/>
        </p:nvSpPr>
        <p:spPr>
          <a:xfrm>
            <a:off x="4826000" y="2032000"/>
            <a:ext cx="2540000" cy="1066800"/>
          </a:xfrm>
          <a:prstGeom prst="roundRect">
            <a:avLst>
              <a:gd name="adj" fmla="val 9524"/>
            </a:avLst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1CC3C20-7741-8862-7E3F-677C528E86B5}"/>
              </a:ext>
            </a:extLst>
          </p:cNvPr>
          <p:cNvSpPr txBox="1"/>
          <p:nvPr/>
        </p:nvSpPr>
        <p:spPr>
          <a:xfrm>
            <a:off x="4927600" y="2032000"/>
            <a:ext cx="23368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</a:p>
          <a:p>
            <a:pPr algn="ctr">
              <a:lnSpc>
                <a:spcPct val="108000"/>
              </a:lnSpc>
            </a:pPr>
            <a:r>
              <a:rPr lang="zh-CN" altLang="en-US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判定与留痕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F3356AC-7545-BDD1-FF15-306575D8085D}"/>
              </a:ext>
            </a:extLst>
          </p:cNvPr>
          <p:cNvSpPr/>
          <p:nvPr/>
        </p:nvSpPr>
        <p:spPr>
          <a:xfrm>
            <a:off x="8890000" y="2032000"/>
            <a:ext cx="2540000" cy="1066800"/>
          </a:xfrm>
          <a:prstGeom prst="roundRect">
            <a:avLst>
              <a:gd name="adj" fmla="val 9524"/>
            </a:avLst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BE5B206-8C55-CF8C-8B39-8A3B162F4C96}"/>
              </a:ext>
            </a:extLst>
          </p:cNvPr>
          <p:cNvSpPr txBox="1"/>
          <p:nvPr/>
        </p:nvSpPr>
        <p:spPr>
          <a:xfrm>
            <a:off x="8991600" y="2032000"/>
            <a:ext cx="23368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</a:t>
            </a:r>
          </a:p>
          <a:p>
            <a:pPr algn="ctr">
              <a:lnSpc>
                <a:spcPct val="108000"/>
              </a:lnSpc>
            </a:pPr>
            <a:r>
              <a:rPr lang="zh-CN" altLang="en-US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浏览与导出</a:t>
            </a:r>
          </a:p>
        </p:txBody>
      </p: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F97FB5E7-CF44-5116-CC48-F5A4F2F8F208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3302000" y="2565400"/>
            <a:ext cx="1524000" cy="12700"/>
          </a:xfrm>
          <a:prstGeom prst="bentConnector3">
            <a:avLst>
              <a:gd name="adj1" fmla="val 50000"/>
            </a:avLst>
          </a:prstGeom>
          <a:ln w="19050">
            <a:solidFill>
              <a:srgbClr val="6B7A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C77C246-F03D-1305-02AF-939F6961CF69}"/>
              </a:ext>
            </a:extLst>
          </p:cNvPr>
          <p:cNvSpPr txBox="1"/>
          <p:nvPr/>
        </p:nvSpPr>
        <p:spPr>
          <a:xfrm>
            <a:off x="3854450" y="2457450"/>
            <a:ext cx="419100" cy="228600"/>
          </a:xfrm>
          <a:prstGeom prst="rect">
            <a:avLst/>
          </a:prstGeom>
          <a:solidFill>
            <a:srgbClr val="FAFBF7"/>
          </a:solidFill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126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上报</a:t>
            </a:r>
          </a:p>
        </p:txBody>
      </p: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C0A4F55D-1919-A786-B329-660DC329D5BF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7366000" y="2565400"/>
            <a:ext cx="1524000" cy="12700"/>
          </a:xfrm>
          <a:prstGeom prst="bentConnector3">
            <a:avLst>
              <a:gd name="adj1" fmla="val 50000"/>
            </a:avLst>
          </a:prstGeom>
          <a:ln w="19050">
            <a:solidFill>
              <a:srgbClr val="6B7A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8F46FC30-F262-9891-B0AF-59E50434FC8B}"/>
              </a:ext>
            </a:extLst>
          </p:cNvPr>
          <p:cNvSpPr txBox="1"/>
          <p:nvPr/>
        </p:nvSpPr>
        <p:spPr>
          <a:xfrm>
            <a:off x="7918450" y="2457450"/>
            <a:ext cx="419100" cy="228600"/>
          </a:xfrm>
          <a:prstGeom prst="rect">
            <a:avLst/>
          </a:prstGeom>
          <a:solidFill>
            <a:srgbClr val="FAFBF7"/>
          </a:solidFill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126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83D759C-50E4-604B-3207-D1C7B126F62C}"/>
              </a:ext>
            </a:extLst>
          </p:cNvPr>
          <p:cNvSpPr txBox="1"/>
          <p:nvPr/>
        </p:nvSpPr>
        <p:spPr>
          <a:xfrm>
            <a:off x="762000" y="3810000"/>
            <a:ext cx="10820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altLang="zh-CN" sz="1920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920" b="1">
                <a:solidFill>
                  <a:srgbClr val="B779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判定权在服务器</a:t>
            </a:r>
            <a:r>
              <a:rPr lang="zh-CN" altLang="en-US" sz="1920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920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 </a:t>
            </a:r>
            <a:r>
              <a:rPr lang="zh-CN" altLang="en-US" sz="1920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只负责采集证据，不自己下结论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927EA8E-8E0C-21C9-3505-FE6B0045FA08}"/>
              </a:ext>
            </a:extLst>
          </p:cNvPr>
          <p:cNvSpPr txBox="1"/>
          <p:nvPr/>
        </p:nvSpPr>
        <p:spPr>
          <a:xfrm>
            <a:off x="762000" y="4521200"/>
            <a:ext cx="10820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altLang="zh-CN" sz="1920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920" b="1">
                <a:solidFill>
                  <a:srgbClr val="B779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先想最坏情况</a:t>
            </a:r>
            <a:r>
              <a:rPr lang="zh-CN" altLang="en-US" sz="1920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：断网、代签、假定位，各有对策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AA52646-6ED3-CABA-4F9C-BCAE7130DCE0}"/>
              </a:ext>
            </a:extLst>
          </p:cNvPr>
          <p:cNvSpPr txBox="1"/>
          <p:nvPr/>
        </p:nvSpPr>
        <p:spPr>
          <a:xfrm>
            <a:off x="762000" y="5232400"/>
            <a:ext cx="10820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altLang="zh-CN" sz="1920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920" b="1">
                <a:solidFill>
                  <a:srgbClr val="B779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没有服务器也能跑</a:t>
            </a:r>
            <a:r>
              <a:rPr lang="zh-CN" altLang="en-US" sz="1920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：本机演示模式，零配置就能验收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8428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5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75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/>
      <p:bldP spid="14" grpId="0" animBg="1"/>
      <p:bldP spid="16" grpId="0" animBg="1"/>
      <p:bldP spid="17" grpId="0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C88BB17-185F-B027-13D8-7B00B86E4714}"/>
              </a:ext>
            </a:extLst>
          </p:cNvPr>
          <p:cNvSpPr/>
          <p:nvPr/>
        </p:nvSpPr>
        <p:spPr>
          <a:xfrm>
            <a:off x="609600" y="508000"/>
            <a:ext cx="330200" cy="38100"/>
          </a:xfrm>
          <a:prstGeom prst="rect">
            <a:avLst/>
          </a:prstGeom>
          <a:solidFill>
            <a:srgbClr val="B7791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12FF0A4C-7FFE-17F5-D5F1-E96326550864}"/>
              </a:ext>
            </a:extLst>
          </p:cNvPr>
          <p:cNvSpPr txBox="1"/>
          <p:nvPr/>
        </p:nvSpPr>
        <p:spPr>
          <a:xfrm>
            <a:off x="609600" y="635000"/>
            <a:ext cx="812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26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三、功能介绍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CAA8FA9E-BE18-15CD-3BC1-812C5C5284C1}"/>
              </a:ext>
            </a:extLst>
          </p:cNvPr>
          <p:cNvSpPr txBox="1"/>
          <p:nvPr/>
        </p:nvSpPr>
        <p:spPr>
          <a:xfrm>
            <a:off x="10058400" y="6350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altLang="zh-CN" sz="120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/ 08</a:t>
            </a:r>
            <a:endParaRPr lang="zh-CN" altLang="en-US" sz="1200">
              <a:solidFill>
                <a:srgbClr val="6B7A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39D57BD-74A0-5797-C4D4-37F25C459381}"/>
              </a:ext>
            </a:extLst>
          </p:cNvPr>
          <p:cNvSpPr txBox="1"/>
          <p:nvPr/>
        </p:nvSpPr>
        <p:spPr>
          <a:xfrm>
            <a:off x="609600" y="8890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2700" b="1">
                <a:solidFill>
                  <a:srgbClr val="2F6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现场用 </a:t>
            </a:r>
            <a:r>
              <a:rPr lang="en-US" altLang="zh-CN" sz="2700" b="1">
                <a:solidFill>
                  <a:srgbClr val="2F6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2700" b="1">
                <a:solidFill>
                  <a:srgbClr val="2F6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，事后看网页</a:t>
            </a:r>
            <a:r>
              <a:rPr lang="en-US" altLang="zh-CN" sz="2700" b="1">
                <a:solidFill>
                  <a:srgbClr val="2F6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700" b="1">
                <a:solidFill>
                  <a:srgbClr val="2F6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六个字说清分工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52096A4-10DE-D661-0C79-B5B78E386AAD}"/>
              </a:ext>
            </a:extLst>
          </p:cNvPr>
          <p:cNvCxnSpPr/>
          <p:nvPr/>
        </p:nvCxnSpPr>
        <p:spPr>
          <a:xfrm>
            <a:off x="609600" y="1498600"/>
            <a:ext cx="10972800" cy="0"/>
          </a:xfrm>
          <a:prstGeom prst="line">
            <a:avLst/>
          </a:prstGeom>
          <a:ln w="9525">
            <a:solidFill>
              <a:srgbClr val="D5D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9F39777-C496-066E-DD7D-A7DD2A5211CD}"/>
              </a:ext>
            </a:extLst>
          </p:cNvPr>
          <p:cNvSpPr/>
          <p:nvPr/>
        </p:nvSpPr>
        <p:spPr>
          <a:xfrm>
            <a:off x="609600" y="1727200"/>
            <a:ext cx="3488267" cy="1828800"/>
          </a:xfrm>
          <a:prstGeom prst="roundRect">
            <a:avLst>
              <a:gd name="adj" fmla="val 5556"/>
            </a:avLst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B45DBB-5934-DA4E-2E75-5C46CF21675E}"/>
              </a:ext>
            </a:extLst>
          </p:cNvPr>
          <p:cNvSpPr/>
          <p:nvPr/>
        </p:nvSpPr>
        <p:spPr>
          <a:xfrm>
            <a:off x="812800" y="1727200"/>
            <a:ext cx="457200" cy="50800"/>
          </a:xfrm>
          <a:prstGeom prst="rect">
            <a:avLst/>
          </a:prstGeom>
          <a:solidFill>
            <a:srgbClr val="2F6B3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Icon people">
            <a:extLst>
              <a:ext uri="{FF2B5EF4-FFF2-40B4-BE49-F238E27FC236}">
                <a16:creationId xmlns:a16="http://schemas.microsoft.com/office/drawing/2014/main" id="{12AC76EF-DB77-E16C-A567-F8F693BAA37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1955800"/>
            <a:ext cx="330200" cy="3302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D11C8F8-2A18-2CF5-6022-15E1512169E4}"/>
              </a:ext>
            </a:extLst>
          </p:cNvPr>
          <p:cNvSpPr txBox="1"/>
          <p:nvPr/>
        </p:nvSpPr>
        <p:spPr>
          <a:xfrm>
            <a:off x="838200" y="2413000"/>
            <a:ext cx="3031067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用户端 </a:t>
            </a:r>
            <a:r>
              <a:rPr lang="en-US" altLang="zh-CN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志愿者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8ABFCD3-8CDE-0902-55CF-50B6342A3B1B}"/>
              </a:ext>
            </a:extLst>
          </p:cNvPr>
          <p:cNvSpPr txBox="1"/>
          <p:nvPr/>
        </p:nvSpPr>
        <p:spPr>
          <a:xfrm>
            <a:off x="838200" y="2794000"/>
            <a:ext cx="3031067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44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 → 签到 → 在岗 → 记录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7F8FB70-A69B-A9E7-6E17-EA62E6CB6FB6}"/>
              </a:ext>
            </a:extLst>
          </p:cNvPr>
          <p:cNvSpPr/>
          <p:nvPr/>
        </p:nvSpPr>
        <p:spPr>
          <a:xfrm>
            <a:off x="4351867" y="1727200"/>
            <a:ext cx="3488266" cy="1828800"/>
          </a:xfrm>
          <a:prstGeom prst="roundRect">
            <a:avLst>
              <a:gd name="adj" fmla="val 5556"/>
            </a:avLst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4A681B3-2FC4-2772-7410-1AC6865BAE4B}"/>
              </a:ext>
            </a:extLst>
          </p:cNvPr>
          <p:cNvSpPr/>
          <p:nvPr/>
        </p:nvSpPr>
        <p:spPr>
          <a:xfrm>
            <a:off x="4555067" y="1727200"/>
            <a:ext cx="457200" cy="50800"/>
          </a:xfrm>
          <a:prstGeom prst="rect">
            <a:avLst/>
          </a:prstGeom>
          <a:solidFill>
            <a:srgbClr val="B7791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Icon list">
            <a:extLst>
              <a:ext uri="{FF2B5EF4-FFF2-40B4-BE49-F238E27FC236}">
                <a16:creationId xmlns:a16="http://schemas.microsoft.com/office/drawing/2014/main" id="{88EB52CE-D13D-0643-F949-305391EDC803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0467" y="1955800"/>
            <a:ext cx="330200" cy="3302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9FC56892-D579-7DE4-A9DB-A5293602897C}"/>
              </a:ext>
            </a:extLst>
          </p:cNvPr>
          <p:cNvSpPr txBox="1"/>
          <p:nvPr/>
        </p:nvSpPr>
        <p:spPr>
          <a:xfrm>
            <a:off x="4580467" y="2413000"/>
            <a:ext cx="3031067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管理端 </a:t>
            </a:r>
            <a:r>
              <a:rPr lang="en-US" altLang="zh-CN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发布者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09DBFE8-7B98-9229-14D0-5CA010C9E69B}"/>
              </a:ext>
            </a:extLst>
          </p:cNvPr>
          <p:cNvSpPr txBox="1"/>
          <p:nvPr/>
        </p:nvSpPr>
        <p:spPr>
          <a:xfrm>
            <a:off x="4580467" y="2794000"/>
            <a:ext cx="3031067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44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发布 → 名单 → 发码 → 看板 → 复核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EA068FD-4BE9-2724-B80B-981832277820}"/>
              </a:ext>
            </a:extLst>
          </p:cNvPr>
          <p:cNvSpPr/>
          <p:nvPr/>
        </p:nvSpPr>
        <p:spPr>
          <a:xfrm>
            <a:off x="8094133" y="1727200"/>
            <a:ext cx="3488267" cy="1828800"/>
          </a:xfrm>
          <a:prstGeom prst="roundRect">
            <a:avLst>
              <a:gd name="adj" fmla="val 5556"/>
            </a:avLst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6AFCB8-CEAC-4DAA-F7CE-B4ECBE5E18DA}"/>
              </a:ext>
            </a:extLst>
          </p:cNvPr>
          <p:cNvSpPr/>
          <p:nvPr/>
        </p:nvSpPr>
        <p:spPr>
          <a:xfrm>
            <a:off x="8297333" y="1727200"/>
            <a:ext cx="457200" cy="50800"/>
          </a:xfrm>
          <a:prstGeom prst="rect">
            <a:avLst/>
          </a:prstGeom>
          <a:solidFill>
            <a:srgbClr val="2F6B3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Icon globe">
            <a:extLst>
              <a:ext uri="{FF2B5EF4-FFF2-40B4-BE49-F238E27FC236}">
                <a16:creationId xmlns:a16="http://schemas.microsoft.com/office/drawing/2014/main" id="{FE0553A6-DE96-132B-860D-838151F346BF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22733" y="1955800"/>
            <a:ext cx="330200" cy="3302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E1CF31CC-F54C-B625-6FD4-B1A3E6E0BF43}"/>
              </a:ext>
            </a:extLst>
          </p:cNvPr>
          <p:cNvSpPr txBox="1"/>
          <p:nvPr/>
        </p:nvSpPr>
        <p:spPr>
          <a:xfrm>
            <a:off x="8322733" y="2413000"/>
            <a:ext cx="3031067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网页端 </a:t>
            </a:r>
            <a:r>
              <a:rPr lang="en-US" altLang="zh-CN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电脑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6045429-EBFE-18E5-0879-022D50EA36BD}"/>
              </a:ext>
            </a:extLst>
          </p:cNvPr>
          <p:cNvSpPr txBox="1"/>
          <p:nvPr/>
        </p:nvSpPr>
        <p:spPr>
          <a:xfrm>
            <a:off x="8322733" y="2794000"/>
            <a:ext cx="3031067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44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 </a:t>
            </a:r>
            <a:r>
              <a:rPr lang="en-US" altLang="zh-CN" sz="144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44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筛选 </a:t>
            </a:r>
            <a:r>
              <a:rPr lang="en-US" altLang="zh-CN" sz="144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44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导出，只读不可签到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D3ADAD2-DF1E-7606-DB9B-F904FE034659}"/>
              </a:ext>
            </a:extLst>
          </p:cNvPr>
          <p:cNvSpPr/>
          <p:nvPr/>
        </p:nvSpPr>
        <p:spPr>
          <a:xfrm>
            <a:off x="609600" y="3759200"/>
            <a:ext cx="5359400" cy="1828800"/>
          </a:xfrm>
          <a:prstGeom prst="rect">
            <a:avLst/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0946A3B-21D7-0E41-0682-B9C6E085DCA1}"/>
              </a:ext>
            </a:extLst>
          </p:cNvPr>
          <p:cNvSpPr txBox="1"/>
          <p:nvPr/>
        </p:nvSpPr>
        <p:spPr>
          <a:xfrm>
            <a:off x="711200" y="3759200"/>
            <a:ext cx="5156200" cy="182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1560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图片位置 ①：用户端首页与签到结果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FF0BBA1-CF84-B483-D3AC-D276B1F12C3B}"/>
              </a:ext>
            </a:extLst>
          </p:cNvPr>
          <p:cNvSpPr/>
          <p:nvPr/>
        </p:nvSpPr>
        <p:spPr>
          <a:xfrm>
            <a:off x="6223000" y="3759200"/>
            <a:ext cx="5359400" cy="1828800"/>
          </a:xfrm>
          <a:prstGeom prst="rect">
            <a:avLst/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443B42A-56D3-4FC0-A8BE-FE05E35EE22B}"/>
              </a:ext>
            </a:extLst>
          </p:cNvPr>
          <p:cNvSpPr txBox="1"/>
          <p:nvPr/>
        </p:nvSpPr>
        <p:spPr>
          <a:xfrm>
            <a:off x="6324600" y="3759200"/>
            <a:ext cx="5156200" cy="182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1560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图片位置 ②：管理端现场看板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F17E66B-27AC-53D7-9FF8-97A9D6FC835A}"/>
              </a:ext>
            </a:extLst>
          </p:cNvPr>
          <p:cNvSpPr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967F005-7934-292F-419D-811CCE679E87}"/>
              </a:ext>
            </a:extLst>
          </p:cNvPr>
          <p:cNvSpPr/>
          <p:nvPr/>
        </p:nvSpPr>
        <p:spPr>
          <a:xfrm>
            <a:off x="609600" y="5740400"/>
            <a:ext cx="50800" cy="508000"/>
          </a:xfrm>
          <a:prstGeom prst="rect">
            <a:avLst/>
          </a:prstGeom>
          <a:solidFill>
            <a:srgbClr val="B7791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941EF2F-A342-7445-2A69-32735D8F4CBE}"/>
              </a:ext>
            </a:extLst>
          </p:cNvPr>
          <p:cNvSpPr txBox="1"/>
          <p:nvPr/>
        </p:nvSpPr>
        <p:spPr>
          <a:xfrm>
            <a:off x="838200" y="5740400"/>
            <a:ext cx="10591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620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三端看到的是同一份数据：</a:t>
            </a:r>
            <a:r>
              <a:rPr lang="en-US" altLang="zh-CN" sz="1620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 </a:t>
            </a:r>
            <a:r>
              <a:rPr lang="zh-CN" altLang="en-US" sz="1620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负责采集，网页负责展示，服务器负责记账。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6402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4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75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/>
      <p:bldP spid="12" grpId="0"/>
      <p:bldP spid="13" grpId="0" animBg="1"/>
      <p:bldP spid="14" grpId="0" animBg="1"/>
      <p:bldP spid="17" grpId="0"/>
      <p:bldP spid="18" grpId="0"/>
      <p:bldP spid="19" grpId="0" animBg="1"/>
      <p:bldP spid="20" grpId="0" animBg="1"/>
      <p:bldP spid="23" grpId="0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 animBg="1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71256B0-6418-894A-7319-3433B7FE3720}"/>
              </a:ext>
            </a:extLst>
          </p:cNvPr>
          <p:cNvSpPr/>
          <p:nvPr/>
        </p:nvSpPr>
        <p:spPr>
          <a:xfrm>
            <a:off x="609600" y="508000"/>
            <a:ext cx="330200" cy="38100"/>
          </a:xfrm>
          <a:prstGeom prst="rect">
            <a:avLst/>
          </a:prstGeom>
          <a:solidFill>
            <a:srgbClr val="B7791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D6C47BC9-48A3-9620-C2F7-7E53FF28FA41}"/>
              </a:ext>
            </a:extLst>
          </p:cNvPr>
          <p:cNvSpPr txBox="1"/>
          <p:nvPr/>
        </p:nvSpPr>
        <p:spPr>
          <a:xfrm>
            <a:off x="609600" y="635000"/>
            <a:ext cx="812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26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四、设计亮点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04EAAC51-C2E2-E916-7F37-A3187BAD4CA8}"/>
              </a:ext>
            </a:extLst>
          </p:cNvPr>
          <p:cNvSpPr txBox="1"/>
          <p:nvPr/>
        </p:nvSpPr>
        <p:spPr>
          <a:xfrm>
            <a:off x="10058400" y="6350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altLang="zh-CN" sz="120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 / 08</a:t>
            </a:r>
            <a:endParaRPr lang="zh-CN" altLang="en-US" sz="1200">
              <a:solidFill>
                <a:srgbClr val="6B7A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156F0E2-D2E5-E59A-834B-33D3B433C0C5}"/>
              </a:ext>
            </a:extLst>
          </p:cNvPr>
          <p:cNvSpPr txBox="1"/>
          <p:nvPr/>
        </p:nvSpPr>
        <p:spPr>
          <a:xfrm>
            <a:off x="609600" y="8890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2700" b="1">
                <a:solidFill>
                  <a:srgbClr val="2F6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四个决定，让它比「扫码签到」更靠得住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491D66A-8BD4-CF3A-9476-AFF3935F5878}"/>
              </a:ext>
            </a:extLst>
          </p:cNvPr>
          <p:cNvCxnSpPr/>
          <p:nvPr/>
        </p:nvCxnSpPr>
        <p:spPr>
          <a:xfrm>
            <a:off x="609600" y="1498600"/>
            <a:ext cx="10972800" cy="0"/>
          </a:xfrm>
          <a:prstGeom prst="line">
            <a:avLst/>
          </a:prstGeom>
          <a:ln w="9525">
            <a:solidFill>
              <a:srgbClr val="D5D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F598331F-94CD-FCB1-F8DC-5D3BCE116104}"/>
              </a:ext>
            </a:extLst>
          </p:cNvPr>
          <p:cNvSpPr/>
          <p:nvPr/>
        </p:nvSpPr>
        <p:spPr>
          <a:xfrm>
            <a:off x="609600" y="2060448"/>
            <a:ext cx="2571750" cy="3683000"/>
          </a:xfrm>
          <a:prstGeom prst="rect">
            <a:avLst/>
          </a:prstGeom>
          <a:solidFill>
            <a:srgbClr val="2F6B3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914A45-2B4F-24B3-6706-2FE9D5066324}"/>
              </a:ext>
            </a:extLst>
          </p:cNvPr>
          <p:cNvSpPr txBox="1"/>
          <p:nvPr/>
        </p:nvSpPr>
        <p:spPr>
          <a:xfrm>
            <a:off x="889000" y="2263648"/>
            <a:ext cx="201295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altLang="zh-CN" sz="4000" b="1">
                <a:solidFill>
                  <a:srgbClr val="FFFFFF">
                    <a:alpha val="5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4000" b="1">
              <a:solidFill>
                <a:srgbClr val="FFFFFF">
                  <a:alpha val="5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E6D794-3F5C-7662-0DE6-5B4047921C75}"/>
              </a:ext>
            </a:extLst>
          </p:cNvPr>
          <p:cNvSpPr/>
          <p:nvPr/>
        </p:nvSpPr>
        <p:spPr>
          <a:xfrm>
            <a:off x="889000" y="3178048"/>
            <a:ext cx="381000" cy="381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BAFE66-A41F-F72D-14D5-CD0E9728FB97}"/>
              </a:ext>
            </a:extLst>
          </p:cNvPr>
          <p:cNvSpPr txBox="1"/>
          <p:nvPr/>
        </p:nvSpPr>
        <p:spPr>
          <a:xfrm>
            <a:off x="889000" y="3381248"/>
            <a:ext cx="201295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判定在服务端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388F9E0-C888-B15B-514F-0BD367C75CAD}"/>
              </a:ext>
            </a:extLst>
          </p:cNvPr>
          <p:cNvSpPr txBox="1"/>
          <p:nvPr/>
        </p:nvSpPr>
        <p:spPr>
          <a:xfrm>
            <a:off x="889000" y="4117848"/>
            <a:ext cx="2012950" cy="142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38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评分规则只定义一次，</a:t>
            </a:r>
            <a:r>
              <a:rPr lang="en-US" altLang="zh-CN" sz="138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 </a:t>
            </a:r>
            <a:r>
              <a:rPr lang="zh-CN" altLang="en-US" sz="138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改不了结论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35C944-E1EC-D4E3-4829-5564149C7902}"/>
              </a:ext>
            </a:extLst>
          </p:cNvPr>
          <p:cNvSpPr/>
          <p:nvPr/>
        </p:nvSpPr>
        <p:spPr>
          <a:xfrm>
            <a:off x="3409950" y="2060448"/>
            <a:ext cx="2571750" cy="3683000"/>
          </a:xfrm>
          <a:prstGeom prst="rect">
            <a:avLst/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7457ED-BF63-DE64-34A8-DF840139004D}"/>
              </a:ext>
            </a:extLst>
          </p:cNvPr>
          <p:cNvSpPr txBox="1"/>
          <p:nvPr/>
        </p:nvSpPr>
        <p:spPr>
          <a:xfrm>
            <a:off x="3689350" y="2263648"/>
            <a:ext cx="201295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altLang="zh-CN" sz="4000" b="1">
                <a:solidFill>
                  <a:srgbClr val="B779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000" b="1">
              <a:solidFill>
                <a:srgbClr val="B779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E1FF095-895B-062B-484E-435B9EE6FB0C}"/>
              </a:ext>
            </a:extLst>
          </p:cNvPr>
          <p:cNvSpPr/>
          <p:nvPr/>
        </p:nvSpPr>
        <p:spPr>
          <a:xfrm>
            <a:off x="3689350" y="3178048"/>
            <a:ext cx="381000" cy="38100"/>
          </a:xfrm>
          <a:prstGeom prst="rect">
            <a:avLst/>
          </a:prstGeom>
          <a:solidFill>
            <a:srgbClr val="B7791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2AD2969-A638-9D5F-C74F-8083E3B78675}"/>
              </a:ext>
            </a:extLst>
          </p:cNvPr>
          <p:cNvSpPr txBox="1"/>
          <p:nvPr/>
        </p:nvSpPr>
        <p:spPr>
          <a:xfrm>
            <a:off x="3689350" y="3381248"/>
            <a:ext cx="201295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一次粘贴完成绑定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A941F1C-C6F5-F58B-0FBB-D995B7746097}"/>
              </a:ext>
            </a:extLst>
          </p:cNvPr>
          <p:cNvSpPr txBox="1"/>
          <p:nvPr/>
        </p:nvSpPr>
        <p:spPr>
          <a:xfrm>
            <a:off x="3689350" y="4117848"/>
            <a:ext cx="2012950" cy="142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38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活动编号、学号、邀请码整段复制粘贴，自动填好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C0EFB3F-DD76-DA29-A367-3D9782F39119}"/>
              </a:ext>
            </a:extLst>
          </p:cNvPr>
          <p:cNvSpPr/>
          <p:nvPr/>
        </p:nvSpPr>
        <p:spPr>
          <a:xfrm>
            <a:off x="6210300" y="2060448"/>
            <a:ext cx="2571750" cy="3683000"/>
          </a:xfrm>
          <a:prstGeom prst="rect">
            <a:avLst/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9001769-22D4-932A-C88F-EFF5E18ACFA1}"/>
              </a:ext>
            </a:extLst>
          </p:cNvPr>
          <p:cNvSpPr txBox="1"/>
          <p:nvPr/>
        </p:nvSpPr>
        <p:spPr>
          <a:xfrm>
            <a:off x="6489700" y="2263648"/>
            <a:ext cx="201295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altLang="zh-CN" sz="4000" b="1">
                <a:solidFill>
                  <a:srgbClr val="2F6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4000" b="1">
              <a:solidFill>
                <a:srgbClr val="2F6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D359EC5-2284-ABD3-1B0A-6333D4710CA8}"/>
              </a:ext>
            </a:extLst>
          </p:cNvPr>
          <p:cNvSpPr/>
          <p:nvPr/>
        </p:nvSpPr>
        <p:spPr>
          <a:xfrm>
            <a:off x="6489700" y="3178048"/>
            <a:ext cx="381000" cy="38100"/>
          </a:xfrm>
          <a:prstGeom prst="rect">
            <a:avLst/>
          </a:prstGeom>
          <a:solidFill>
            <a:srgbClr val="2F6B3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9A9C73B-8535-2BF5-225A-1C55308B564C}"/>
              </a:ext>
            </a:extLst>
          </p:cNvPr>
          <p:cNvSpPr txBox="1"/>
          <p:nvPr/>
        </p:nvSpPr>
        <p:spPr>
          <a:xfrm>
            <a:off x="6489700" y="3381248"/>
            <a:ext cx="201295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altLang="zh-CN" sz="1500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 </a:t>
            </a:r>
            <a:r>
              <a:rPr lang="zh-CN" altLang="en-US" sz="1500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导入名单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4A7F0D5-0CBE-012C-80DB-389E192FD5B7}"/>
              </a:ext>
            </a:extLst>
          </p:cNvPr>
          <p:cNvSpPr txBox="1"/>
          <p:nvPr/>
        </p:nvSpPr>
        <p:spPr>
          <a:xfrm>
            <a:off x="6489700" y="4117848"/>
            <a:ext cx="2012950" cy="142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20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选文件即读，自动跳过表头，空格不会错位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5792B9A-FD92-F194-7A79-E5B57AA1C00B}"/>
              </a:ext>
            </a:extLst>
          </p:cNvPr>
          <p:cNvSpPr/>
          <p:nvPr/>
        </p:nvSpPr>
        <p:spPr>
          <a:xfrm>
            <a:off x="9010650" y="2060448"/>
            <a:ext cx="2571750" cy="3683000"/>
          </a:xfrm>
          <a:prstGeom prst="rect">
            <a:avLst/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255922D-5321-B84E-3D55-CF1EDDEC1D3C}"/>
              </a:ext>
            </a:extLst>
          </p:cNvPr>
          <p:cNvSpPr txBox="1"/>
          <p:nvPr/>
        </p:nvSpPr>
        <p:spPr>
          <a:xfrm>
            <a:off x="9290050" y="2263648"/>
            <a:ext cx="201295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altLang="zh-CN" sz="4000" b="1">
                <a:solidFill>
                  <a:srgbClr val="B779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4000" b="1">
              <a:solidFill>
                <a:srgbClr val="B779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A33CE5F-F51D-A422-9087-C556F95B9800}"/>
              </a:ext>
            </a:extLst>
          </p:cNvPr>
          <p:cNvSpPr/>
          <p:nvPr/>
        </p:nvSpPr>
        <p:spPr>
          <a:xfrm>
            <a:off x="9290050" y="3178048"/>
            <a:ext cx="381000" cy="38100"/>
          </a:xfrm>
          <a:prstGeom prst="rect">
            <a:avLst/>
          </a:prstGeom>
          <a:solidFill>
            <a:srgbClr val="B7791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AF675E1-F7D7-9B26-118E-E3F78B1453DC}"/>
              </a:ext>
            </a:extLst>
          </p:cNvPr>
          <p:cNvSpPr txBox="1"/>
          <p:nvPr/>
        </p:nvSpPr>
        <p:spPr>
          <a:xfrm>
            <a:off x="9290050" y="3381248"/>
            <a:ext cx="201295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驳回必须写原因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54DC172-3D7F-0076-2560-0F6695C9E9F1}"/>
              </a:ext>
            </a:extLst>
          </p:cNvPr>
          <p:cNvSpPr txBox="1"/>
          <p:nvPr/>
        </p:nvSpPr>
        <p:spPr>
          <a:xfrm>
            <a:off x="9290050" y="4117848"/>
            <a:ext cx="2012950" cy="142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20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志愿者看得见解释，不会「被驳回却不知道原因」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6C97118-5C95-BF45-7E81-0B73E96C1B31}"/>
              </a:ext>
            </a:extLst>
          </p:cNvPr>
          <p:cNvSpPr txBox="1"/>
          <p:nvPr/>
        </p:nvSpPr>
        <p:spPr>
          <a:xfrm>
            <a:off x="889000" y="5943600"/>
            <a:ext cx="1041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/>
              <a:t>四条都不是「多加一个功能」，而是把最容易出问题的地方提前想到。</a:t>
            </a:r>
          </a:p>
        </p:txBody>
      </p:sp>
      <p:sp>
        <p:nvSpPr>
          <p:cNvPr id="28" name="FootNote">
            <a:extLst>
              <a:ext uri="{FF2B5EF4-FFF2-40B4-BE49-F238E27FC236}">
                <a16:creationId xmlns:a16="http://schemas.microsoft.com/office/drawing/2014/main" id="{46D9FDEC-7B2E-D409-F9BF-20CDAD5FCA0E}"/>
              </a:ext>
            </a:extLst>
          </p:cNvPr>
          <p:cNvSpPr txBox="1"/>
          <p:nvPr/>
        </p:nvSpPr>
        <p:spPr>
          <a:xfrm>
            <a:off x="889000" y="5943600"/>
            <a:ext cx="1041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6B7280"/>
                </a:solidFill>
              </a:rPr>
              <a:t>四条都不是「多加一个功能」，而是把最容易出问题的地方提前想到。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7474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/>
      <p:bldP spid="12" grpId="0" animBg="1"/>
      <p:bldP spid="13" grpId="0"/>
      <p:bldP spid="14" grpId="0" animBg="1"/>
      <p:bldP spid="15" grpId="0"/>
      <p:bldP spid="16" grpId="0"/>
      <p:bldP spid="17" grpId="0" animBg="1"/>
      <p:bldP spid="18" grpId="0"/>
      <p:bldP spid="19" grpId="0" animBg="1"/>
      <p:bldP spid="20" grpId="0"/>
      <p:bldP spid="21" grpId="0"/>
      <p:bldP spid="22" grpId="0" animBg="1"/>
      <p:bldP spid="23" grpId="0"/>
      <p:bldP spid="24" grpId="0" animBg="1"/>
      <p:bldP spid="2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56DD0FD-FA35-81B9-C355-8EF4E0C42FEB}"/>
              </a:ext>
            </a:extLst>
          </p:cNvPr>
          <p:cNvSpPr/>
          <p:nvPr/>
        </p:nvSpPr>
        <p:spPr>
          <a:xfrm>
            <a:off x="609600" y="508000"/>
            <a:ext cx="330200" cy="38100"/>
          </a:xfrm>
          <a:prstGeom prst="rect">
            <a:avLst/>
          </a:prstGeom>
          <a:solidFill>
            <a:srgbClr val="B7791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13C5EBAB-A509-3BEA-9148-6354AE60B49F}"/>
              </a:ext>
            </a:extLst>
          </p:cNvPr>
          <p:cNvSpPr txBox="1"/>
          <p:nvPr/>
        </p:nvSpPr>
        <p:spPr>
          <a:xfrm>
            <a:off x="609600" y="635000"/>
            <a:ext cx="812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26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五、效果展示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E5EC5041-E8BF-629E-CDA7-0C0EE3C43A5D}"/>
              </a:ext>
            </a:extLst>
          </p:cNvPr>
          <p:cNvSpPr txBox="1"/>
          <p:nvPr/>
        </p:nvSpPr>
        <p:spPr>
          <a:xfrm>
            <a:off x="10058400" y="6350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altLang="zh-CN" sz="120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 / 08</a:t>
            </a:r>
            <a:endParaRPr lang="zh-CN" altLang="en-US" sz="1200">
              <a:solidFill>
                <a:srgbClr val="6B7A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6F934810-5F2C-4214-E3D1-36759B8CF8D4}"/>
              </a:ext>
            </a:extLst>
          </p:cNvPr>
          <p:cNvSpPr txBox="1"/>
          <p:nvPr/>
        </p:nvSpPr>
        <p:spPr>
          <a:xfrm>
            <a:off x="609600" y="8890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2700" b="1">
                <a:solidFill>
                  <a:srgbClr val="2F6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实测：手机签到、管理端复核、网页查看，一条链路走完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BA9E5AB-1FDA-5CFF-09CC-A22F3D4897BF}"/>
              </a:ext>
            </a:extLst>
          </p:cNvPr>
          <p:cNvCxnSpPr/>
          <p:nvPr/>
        </p:nvCxnSpPr>
        <p:spPr>
          <a:xfrm>
            <a:off x="609600" y="1498600"/>
            <a:ext cx="10972800" cy="0"/>
          </a:xfrm>
          <a:prstGeom prst="line">
            <a:avLst/>
          </a:prstGeom>
          <a:ln w="9525">
            <a:solidFill>
              <a:srgbClr val="D5D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8BD3972-E1D7-5FFD-B7AB-1EB0D3DF1C75}"/>
              </a:ext>
            </a:extLst>
          </p:cNvPr>
          <p:cNvSpPr/>
          <p:nvPr/>
        </p:nvSpPr>
        <p:spPr>
          <a:xfrm>
            <a:off x="609600" y="1727200"/>
            <a:ext cx="3352800" cy="3048000"/>
          </a:xfrm>
          <a:prstGeom prst="roundRect">
            <a:avLst>
              <a:gd name="adj" fmla="val 3333"/>
            </a:avLst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A5EFDDE-1571-7DE8-6E4E-6428AC8119D1}"/>
              </a:ext>
            </a:extLst>
          </p:cNvPr>
          <p:cNvSpPr txBox="1"/>
          <p:nvPr/>
        </p:nvSpPr>
        <p:spPr>
          <a:xfrm>
            <a:off x="711200" y="1727200"/>
            <a:ext cx="3149600" cy="304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1560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图片位置 ①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CB7E927-DB6E-FA96-E6A1-A5A3C4D184C0}"/>
              </a:ext>
            </a:extLst>
          </p:cNvPr>
          <p:cNvSpPr/>
          <p:nvPr/>
        </p:nvSpPr>
        <p:spPr>
          <a:xfrm>
            <a:off x="4419600" y="1727200"/>
            <a:ext cx="3352800" cy="3048000"/>
          </a:xfrm>
          <a:prstGeom prst="roundRect">
            <a:avLst>
              <a:gd name="adj" fmla="val 3333"/>
            </a:avLst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45A67D3-A874-946B-D76B-4CD09451C2D8}"/>
              </a:ext>
            </a:extLst>
          </p:cNvPr>
          <p:cNvSpPr txBox="1"/>
          <p:nvPr/>
        </p:nvSpPr>
        <p:spPr>
          <a:xfrm>
            <a:off x="4521200" y="1727200"/>
            <a:ext cx="3149600" cy="304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1560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图片位置 ②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7B8B545-942F-3E73-B764-93B57465AAF8}"/>
              </a:ext>
            </a:extLst>
          </p:cNvPr>
          <p:cNvSpPr/>
          <p:nvPr/>
        </p:nvSpPr>
        <p:spPr>
          <a:xfrm>
            <a:off x="8229600" y="1727200"/>
            <a:ext cx="3352800" cy="3048000"/>
          </a:xfrm>
          <a:prstGeom prst="roundRect">
            <a:avLst>
              <a:gd name="adj" fmla="val 3333"/>
            </a:avLst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82091AB-41A2-FF9A-6093-8DD7185C968E}"/>
              </a:ext>
            </a:extLst>
          </p:cNvPr>
          <p:cNvSpPr txBox="1"/>
          <p:nvPr/>
        </p:nvSpPr>
        <p:spPr>
          <a:xfrm>
            <a:off x="8331200" y="1727200"/>
            <a:ext cx="3149600" cy="304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1560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图片位置 ③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46DFFC1-15DB-1E80-C616-5CDE5B7AC0DC}"/>
              </a:ext>
            </a:extLst>
          </p:cNvPr>
          <p:cNvSpPr txBox="1"/>
          <p:nvPr/>
        </p:nvSpPr>
        <p:spPr>
          <a:xfrm>
            <a:off x="609600" y="4927600"/>
            <a:ext cx="33528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156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用户端：已签到 </a:t>
            </a:r>
            <a:r>
              <a:rPr lang="en-US" altLang="zh-CN" sz="156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56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服务端评分 </a:t>
            </a:r>
            <a:r>
              <a:rPr lang="en-US" altLang="zh-CN" sz="156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endParaRPr lang="zh-CN" altLang="en-US" sz="1560">
              <a:solidFill>
                <a:srgbClr val="6B7A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2E324EE-F8C9-0543-1EB1-77687BAFDAB7}"/>
              </a:ext>
            </a:extLst>
          </p:cNvPr>
          <p:cNvSpPr txBox="1"/>
          <p:nvPr/>
        </p:nvSpPr>
        <p:spPr>
          <a:xfrm>
            <a:off x="4419600" y="4927600"/>
            <a:ext cx="33528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156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管理端：已签到 </a:t>
            </a:r>
            <a:r>
              <a:rPr lang="en-US" altLang="zh-CN" sz="156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/ </a:t>
            </a:r>
            <a:r>
              <a:rPr lang="zh-CN" altLang="en-US" sz="156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待确认 </a:t>
            </a:r>
            <a:r>
              <a:rPr lang="en-US" altLang="zh-CN" sz="156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1560">
              <a:solidFill>
                <a:srgbClr val="6B7A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A7D3749-BA85-D9F3-5D7F-6424AE5270E2}"/>
              </a:ext>
            </a:extLst>
          </p:cNvPr>
          <p:cNvSpPr txBox="1"/>
          <p:nvPr/>
        </p:nvSpPr>
        <p:spPr>
          <a:xfrm>
            <a:off x="8229600" y="4927600"/>
            <a:ext cx="33528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156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网页端：活动列表与详情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CFD46F8-3DD0-0834-E0DD-23A039460DE1}"/>
              </a:ext>
            </a:extLst>
          </p:cNvPr>
          <p:cNvSpPr txBox="1"/>
          <p:nvPr/>
        </p:nvSpPr>
        <p:spPr>
          <a:xfrm>
            <a:off x="609600" y="5638800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56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以上为真机与网页实测截图。</a:t>
            </a:r>
            <a:r>
              <a:rPr lang="zh-CN" altLang="en-US" sz="1560" b="1">
                <a:solidFill>
                  <a:srgbClr val="B779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替换方法</a:t>
            </a:r>
            <a:r>
              <a:rPr lang="zh-CN" altLang="en-US" sz="156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：选中浅色块删除，再插入自己的图片即可。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0695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4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75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1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/>
      <p:bldP spid="14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80505EE-17E6-D1ED-1765-7AAE71631E2E}"/>
              </a:ext>
            </a:extLst>
          </p:cNvPr>
          <p:cNvSpPr/>
          <p:nvPr/>
        </p:nvSpPr>
        <p:spPr>
          <a:xfrm>
            <a:off x="609600" y="508000"/>
            <a:ext cx="330200" cy="38100"/>
          </a:xfrm>
          <a:prstGeom prst="rect">
            <a:avLst/>
          </a:prstGeom>
          <a:solidFill>
            <a:srgbClr val="B7791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4DC08CB3-8549-98D1-E0FF-0D12068F161B}"/>
              </a:ext>
            </a:extLst>
          </p:cNvPr>
          <p:cNvSpPr txBox="1"/>
          <p:nvPr/>
        </p:nvSpPr>
        <p:spPr>
          <a:xfrm>
            <a:off x="609600" y="635000"/>
            <a:ext cx="812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26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六、应用场景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07555539-1D1D-9455-2319-4A9D8E4C84AD}"/>
              </a:ext>
            </a:extLst>
          </p:cNvPr>
          <p:cNvSpPr txBox="1"/>
          <p:nvPr/>
        </p:nvSpPr>
        <p:spPr>
          <a:xfrm>
            <a:off x="10058400" y="6350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altLang="zh-CN" sz="120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 / 08</a:t>
            </a:r>
            <a:endParaRPr lang="zh-CN" altLang="en-US" sz="1200">
              <a:solidFill>
                <a:srgbClr val="6B7A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F4965F8-1090-3DF6-7123-82E3E53E5569}"/>
              </a:ext>
            </a:extLst>
          </p:cNvPr>
          <p:cNvSpPr txBox="1"/>
          <p:nvPr/>
        </p:nvSpPr>
        <p:spPr>
          <a:xfrm>
            <a:off x="609600" y="8890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2700" b="1">
                <a:solidFill>
                  <a:srgbClr val="2F6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凡是「人要到场」的事，都能用上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8871CFB-FCE8-2116-381A-BAA14FF91F6D}"/>
              </a:ext>
            </a:extLst>
          </p:cNvPr>
          <p:cNvCxnSpPr/>
          <p:nvPr/>
        </p:nvCxnSpPr>
        <p:spPr>
          <a:xfrm>
            <a:off x="609600" y="1498600"/>
            <a:ext cx="10972800" cy="0"/>
          </a:xfrm>
          <a:prstGeom prst="line">
            <a:avLst/>
          </a:prstGeom>
          <a:ln w="9525">
            <a:solidFill>
              <a:srgbClr val="D5D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C8BE900-8D1B-1157-BFB6-DED89C7D9BA4}"/>
              </a:ext>
            </a:extLst>
          </p:cNvPr>
          <p:cNvSpPr/>
          <p:nvPr/>
        </p:nvSpPr>
        <p:spPr>
          <a:xfrm>
            <a:off x="609600" y="1985772"/>
            <a:ext cx="2571750" cy="3175000"/>
          </a:xfrm>
          <a:prstGeom prst="roundRect">
            <a:avLst>
              <a:gd name="adj" fmla="val 3951"/>
            </a:avLst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DE608A7-EB74-079D-DFA4-7F5EBB47B01F}"/>
              </a:ext>
            </a:extLst>
          </p:cNvPr>
          <p:cNvSpPr/>
          <p:nvPr/>
        </p:nvSpPr>
        <p:spPr>
          <a:xfrm>
            <a:off x="812800" y="1985772"/>
            <a:ext cx="457200" cy="50800"/>
          </a:xfrm>
          <a:prstGeom prst="rect">
            <a:avLst/>
          </a:prstGeom>
          <a:solidFill>
            <a:srgbClr val="2F6B3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Icon flag">
            <a:extLst>
              <a:ext uri="{FF2B5EF4-FFF2-40B4-BE49-F238E27FC236}">
                <a16:creationId xmlns:a16="http://schemas.microsoft.com/office/drawing/2014/main" id="{C7B4D021-34F8-DA5F-48B2-182C9C3B5AD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600" y="2341372"/>
            <a:ext cx="431800" cy="4318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8C08F04-3930-7231-4A37-F794F1B56BF1}"/>
              </a:ext>
            </a:extLst>
          </p:cNvPr>
          <p:cNvSpPr txBox="1"/>
          <p:nvPr/>
        </p:nvSpPr>
        <p:spPr>
          <a:xfrm>
            <a:off x="863600" y="3001772"/>
            <a:ext cx="206375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2100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校内志愿活动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783DE3C-81A0-9B2C-E057-27977EE379A7}"/>
              </a:ext>
            </a:extLst>
          </p:cNvPr>
          <p:cNvSpPr txBox="1"/>
          <p:nvPr/>
        </p:nvSpPr>
        <p:spPr>
          <a:xfrm>
            <a:off x="863600" y="3484372"/>
            <a:ext cx="2063750" cy="157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62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图书馆整理、校园劝导、赛事服务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D604720-04BF-972F-A551-1902CD2E316E}"/>
              </a:ext>
            </a:extLst>
          </p:cNvPr>
          <p:cNvSpPr/>
          <p:nvPr/>
        </p:nvSpPr>
        <p:spPr>
          <a:xfrm>
            <a:off x="3409950" y="1985772"/>
            <a:ext cx="2571750" cy="3175000"/>
          </a:xfrm>
          <a:prstGeom prst="roundRect">
            <a:avLst>
              <a:gd name="adj" fmla="val 3951"/>
            </a:avLst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D2BA1B-6D7C-5360-5931-54CFBAD1EA63}"/>
              </a:ext>
            </a:extLst>
          </p:cNvPr>
          <p:cNvSpPr/>
          <p:nvPr/>
        </p:nvSpPr>
        <p:spPr>
          <a:xfrm>
            <a:off x="3613150" y="1985772"/>
            <a:ext cx="457200" cy="50800"/>
          </a:xfrm>
          <a:prstGeom prst="rect">
            <a:avLst/>
          </a:prstGeom>
          <a:solidFill>
            <a:srgbClr val="B7791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Icon calendar">
            <a:extLst>
              <a:ext uri="{FF2B5EF4-FFF2-40B4-BE49-F238E27FC236}">
                <a16:creationId xmlns:a16="http://schemas.microsoft.com/office/drawing/2014/main" id="{9FA9BB0F-4EB1-3940-DB1B-07AC4E57FD42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3950" y="2341372"/>
            <a:ext cx="431800" cy="4318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5D30D0C5-3CDA-4C85-C578-6F2D8D91D57B}"/>
              </a:ext>
            </a:extLst>
          </p:cNvPr>
          <p:cNvSpPr txBox="1"/>
          <p:nvPr/>
        </p:nvSpPr>
        <p:spPr>
          <a:xfrm>
            <a:off x="3663950" y="3001772"/>
            <a:ext cx="206375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2100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迎新与考场引导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EC84C3F-2FF1-5D07-372F-B3D8D08EAEE2}"/>
              </a:ext>
            </a:extLst>
          </p:cNvPr>
          <p:cNvSpPr txBox="1"/>
          <p:nvPr/>
        </p:nvSpPr>
        <p:spPr>
          <a:xfrm>
            <a:off x="3663950" y="3484372"/>
            <a:ext cx="2063750" cy="157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62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定时定点，需要点到与在岗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8D90124-4697-3729-2B5A-F4155F0796B3}"/>
              </a:ext>
            </a:extLst>
          </p:cNvPr>
          <p:cNvSpPr/>
          <p:nvPr/>
        </p:nvSpPr>
        <p:spPr>
          <a:xfrm>
            <a:off x="6210300" y="1985772"/>
            <a:ext cx="2571750" cy="3175000"/>
          </a:xfrm>
          <a:prstGeom prst="roundRect">
            <a:avLst>
              <a:gd name="adj" fmla="val 3951"/>
            </a:avLst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5DF07DF-6655-0172-5870-76746630A802}"/>
              </a:ext>
            </a:extLst>
          </p:cNvPr>
          <p:cNvSpPr/>
          <p:nvPr/>
        </p:nvSpPr>
        <p:spPr>
          <a:xfrm>
            <a:off x="6413500" y="1985772"/>
            <a:ext cx="457200" cy="50800"/>
          </a:xfrm>
          <a:prstGeom prst="rect">
            <a:avLst/>
          </a:prstGeom>
          <a:solidFill>
            <a:srgbClr val="2F6B3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Icon heart">
            <a:extLst>
              <a:ext uri="{FF2B5EF4-FFF2-40B4-BE49-F238E27FC236}">
                <a16:creationId xmlns:a16="http://schemas.microsoft.com/office/drawing/2014/main" id="{EA833CC2-58A5-4746-BD74-8C3197AFC2FD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64300" y="2341372"/>
            <a:ext cx="431800" cy="4318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2DBC4809-46AD-F863-A62C-DD22137D623B}"/>
              </a:ext>
            </a:extLst>
          </p:cNvPr>
          <p:cNvSpPr txBox="1"/>
          <p:nvPr/>
        </p:nvSpPr>
        <p:spPr>
          <a:xfrm>
            <a:off x="6464300" y="3001772"/>
            <a:ext cx="206375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2100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社区与敬老服务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9E16CF3-81F1-04DF-4F97-8B36325EEA5D}"/>
              </a:ext>
            </a:extLst>
          </p:cNvPr>
          <p:cNvSpPr txBox="1"/>
          <p:nvPr/>
        </p:nvSpPr>
        <p:spPr>
          <a:xfrm>
            <a:off x="6464300" y="3484372"/>
            <a:ext cx="2063750" cy="157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62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场地固定，适合围栏签到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0079256-E65F-AAE8-E150-0181BB60A6FE}"/>
              </a:ext>
            </a:extLst>
          </p:cNvPr>
          <p:cNvSpPr/>
          <p:nvPr/>
        </p:nvSpPr>
        <p:spPr>
          <a:xfrm>
            <a:off x="9010650" y="1985772"/>
            <a:ext cx="2571750" cy="3175000"/>
          </a:xfrm>
          <a:prstGeom prst="roundRect">
            <a:avLst>
              <a:gd name="adj" fmla="val 3951"/>
            </a:avLst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E90F386-7CA8-4005-C36C-1A733548A5D2}"/>
              </a:ext>
            </a:extLst>
          </p:cNvPr>
          <p:cNvSpPr/>
          <p:nvPr/>
        </p:nvSpPr>
        <p:spPr>
          <a:xfrm>
            <a:off x="9213850" y="1985772"/>
            <a:ext cx="457200" cy="50800"/>
          </a:xfrm>
          <a:prstGeom prst="rect">
            <a:avLst/>
          </a:prstGeom>
          <a:solidFill>
            <a:srgbClr val="B7791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Icon clock">
            <a:extLst>
              <a:ext uri="{FF2B5EF4-FFF2-40B4-BE49-F238E27FC236}">
                <a16:creationId xmlns:a16="http://schemas.microsoft.com/office/drawing/2014/main" id="{8ADD89CA-1C6B-5DB1-BC26-27EAC6CB4AB4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64650" y="2341372"/>
            <a:ext cx="431800" cy="43180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2AE5995A-A3E3-E2FF-4A9E-FC790D19005F}"/>
              </a:ext>
            </a:extLst>
          </p:cNvPr>
          <p:cNvSpPr txBox="1"/>
          <p:nvPr/>
        </p:nvSpPr>
        <p:spPr>
          <a:xfrm>
            <a:off x="9264650" y="3001772"/>
            <a:ext cx="206375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2100" b="1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值班类实习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8096110-64FB-1698-0C06-B0293EB46947}"/>
              </a:ext>
            </a:extLst>
          </p:cNvPr>
          <p:cNvSpPr txBox="1"/>
          <p:nvPr/>
        </p:nvSpPr>
        <p:spPr>
          <a:xfrm>
            <a:off x="9264650" y="3484372"/>
            <a:ext cx="2063750" cy="157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620">
                <a:solidFill>
                  <a:srgbClr val="6B7A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接上服务器即可用于到场打卡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B034DFC-A9F5-56A2-10F4-CFCF3B048DF7}"/>
              </a:ext>
            </a:extLst>
          </p:cNvPr>
          <p:cNvSpPr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D97AC99-A661-73C0-5868-A5E2C3A29960}"/>
              </a:ext>
            </a:extLst>
          </p:cNvPr>
          <p:cNvSpPr/>
          <p:nvPr/>
        </p:nvSpPr>
        <p:spPr>
          <a:xfrm>
            <a:off x="609600" y="5740400"/>
            <a:ext cx="50800" cy="508000"/>
          </a:xfrm>
          <a:prstGeom prst="rect">
            <a:avLst/>
          </a:prstGeom>
          <a:solidFill>
            <a:srgbClr val="B7791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Callout">
            <a:extLst>
              <a:ext uri="{FF2B5EF4-FFF2-40B4-BE49-F238E27FC236}">
                <a16:creationId xmlns:a16="http://schemas.microsoft.com/office/drawing/2014/main" id="{D683C6D7-50BC-6B0D-6A7F-85CBF4E79798}"/>
              </a:ext>
            </a:extLst>
          </p:cNvPr>
          <p:cNvSpPr txBox="1"/>
          <p:nvPr/>
        </p:nvSpPr>
        <p:spPr>
          <a:xfrm>
            <a:off x="838200" y="5740400"/>
            <a:ext cx="10591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1620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把「来了没有」变成「有据可查」</a:t>
            </a:r>
            <a:r>
              <a:rPr lang="en-US" altLang="zh-CN" sz="1620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20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一次签到，双方都省心。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9356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/>
      <p:bldP spid="12" grpId="0"/>
      <p:bldP spid="13" grpId="0" animBg="1"/>
      <p:bldP spid="14" grpId="0" animBg="1"/>
      <p:bldP spid="17" grpId="0"/>
      <p:bldP spid="18" grpId="0"/>
      <p:bldP spid="19" grpId="0" animBg="1"/>
      <p:bldP spid="20" grpId="0" animBg="1"/>
      <p:bldP spid="23" grpId="0"/>
      <p:bldP spid="24" grpId="0"/>
      <p:bldP spid="25" grpId="0" animBg="1"/>
      <p:bldP spid="26" grpId="0" animBg="1"/>
      <p:bldP spid="29" grpId="0"/>
      <p:bldP spid="30" grpId="0"/>
      <p:bldP spid="31" grpId="0" animBg="1"/>
      <p:bldP spid="32" grpId="0" animBg="1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9CACBAB3-4D73-240D-8E94-7AD84402FE97}"/>
              </a:ext>
            </a:extLst>
          </p:cNvPr>
          <p:cNvSpPr/>
          <p:nvPr/>
        </p:nvSpPr>
        <p:spPr>
          <a:xfrm>
            <a:off x="6985000" y="-1524000"/>
            <a:ext cx="6350000" cy="6350000"/>
          </a:xfrm>
          <a:prstGeom prst="ellipse">
            <a:avLst/>
          </a:prstGeom>
          <a:solidFill>
            <a:srgbClr val="EAF0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AAFA4D0-E198-0E92-E10D-6A300EF9475B}"/>
              </a:ext>
            </a:extLst>
          </p:cNvPr>
          <p:cNvSpPr/>
          <p:nvPr/>
        </p:nvSpPr>
        <p:spPr>
          <a:xfrm>
            <a:off x="9969500" y="3937000"/>
            <a:ext cx="3048000" cy="3048000"/>
          </a:xfrm>
          <a:prstGeom prst="ellipse">
            <a:avLst/>
          </a:prstGeom>
          <a:solidFill>
            <a:srgbClr val="2F6B3A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89A3842-F932-4E53-8745-019C93F3F24B}"/>
              </a:ext>
            </a:extLst>
          </p:cNvPr>
          <p:cNvSpPr/>
          <p:nvPr/>
        </p:nvSpPr>
        <p:spPr>
          <a:xfrm>
            <a:off x="7747000" y="3810000"/>
            <a:ext cx="1905000" cy="1905000"/>
          </a:xfrm>
          <a:prstGeom prst="ellipse">
            <a:avLst/>
          </a:prstGeom>
          <a:noFill/>
          <a:ln w="19050" cap="flat" cmpd="sng" algn="ctr">
            <a:solidFill>
              <a:srgbClr val="B779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3AF071C-9212-A1A5-8356-9DE0319FEDC4}"/>
              </a:ext>
            </a:extLst>
          </p:cNvPr>
          <p:cNvSpPr/>
          <p:nvPr/>
        </p:nvSpPr>
        <p:spPr>
          <a:xfrm>
            <a:off x="711200" y="2413000"/>
            <a:ext cx="812800" cy="50800"/>
          </a:xfrm>
          <a:prstGeom prst="rect">
            <a:avLst/>
          </a:prstGeom>
          <a:solidFill>
            <a:srgbClr val="B7791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C1007236-3037-BDD3-DAA7-A97D4D01319D}"/>
              </a:ext>
            </a:extLst>
          </p:cNvPr>
          <p:cNvSpPr txBox="1"/>
          <p:nvPr/>
        </p:nvSpPr>
        <p:spPr>
          <a:xfrm>
            <a:off x="711200" y="2667000"/>
            <a:ext cx="7112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4400" b="1">
                <a:solidFill>
                  <a:srgbClr val="2F6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欢迎试用与指正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3ED8862E-229D-7268-F155-750A8954F730}"/>
              </a:ext>
            </a:extLst>
          </p:cNvPr>
          <p:cNvSpPr txBox="1"/>
          <p:nvPr/>
        </p:nvSpPr>
        <p:spPr>
          <a:xfrm>
            <a:off x="711200" y="4445000"/>
            <a:ext cx="711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手机端 </a:t>
            </a:r>
            <a:r>
              <a:rPr lang="en-US" altLang="zh-CN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管理端 </a:t>
            </a:r>
            <a:r>
              <a:rPr lang="en-US" altLang="zh-CN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>
                <a:solidFill>
                  <a:srgbClr val="1F2A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网页：一条链路走完签到。谢谢！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5933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SHTHEME" val="{&quot;Name&quot;:&quot;forest&quot;,&quot;Bg&quot;:&quot;#FAFBF7&quot;,&quot;Surface&quot;:&quot;#EAF0E4&quot;,&quot;Text&quot;:&quot;#1F2A1F&quot;,&quot;Muted&quot;:&quot;#6B7A66&quot;,&quot;Primary&quot;:&quot;#2F6B3A&quot;,&quot;Accent&quot;:&quot;#B7791F&quot;,&quot;Line&quot;:&quot;#D5DDCC&quot;,&quot;TitleFont&quot;:&quot;微软雅黑&quot;,&quot;BodyFont&quot;:&quot;微软雅黑&quot;,&quot;Dark&quot;:false,&quot;Transition&quot;:&quot;fade&quot;,&quot;Animate&quot;:true,&quot;Texture&quot;:&quot;&quot;,&quot;Section&quot;:&quot;number&quot;,&quot;Corners&quot;:&quot;soft&quot;,&quot;Cards&quot;:&quot;soft&quot;,&quot;Marks&quot;:&quot;dot&quot;,&quot;Chrome&quot;:&quot;&quot;,&quot;Author&quot;:&quot;&quot;,&quot;Talk&quot;:&quot;&quot;,&quot;Base&quot;:0,&quot;Area&quot;:null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SHKIND" val="cov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SHKIND" val="bullet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SHKIND" val="canva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SHKIND" val="gri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SHKIND" val="summary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SHKIND" val="canva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SHKIND" val="cards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SHKIND" val="closing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1479</Words>
  <Application>Microsoft Office PowerPoint</Application>
  <PresentationFormat>宽屏</PresentationFormat>
  <Paragraphs>126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月 两</dc:creator>
  <cp:lastModifiedBy>月 两</cp:lastModifiedBy>
  <cp:revision>3</cp:revision>
  <dcterms:created xsi:type="dcterms:W3CDTF">2026-10-19T05:34:34Z</dcterms:created>
  <dcterms:modified xsi:type="dcterms:W3CDTF">2026-10-19T05:41:14Z</dcterms:modified>
</cp:coreProperties>
</file>